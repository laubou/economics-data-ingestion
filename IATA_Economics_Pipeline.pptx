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je vais vous présenter mon case study sur la construction d'un pipeline d'ingestion de données pour l'équipe Economics de l'IATA. Le pipeline est production-ready, déployable sur AWS via Terraform, et conçu pour évoluer d'un fichier one-off vers une ingestion continue quotidienne.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va couvrir : le contexte business en 1 minute, l'architecture globale, puis un deep dive sur chaque étape du dataflow. On termine sur l'IaC et les choix de conception. Laissez vos questions pour la fin.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L'équipe Economics a un fichier de 2M records accessible via une URL. L'objectif est de construire un pipeline complet : téléchargement, archivage, streaming, transformation et service via Athena. Et la contrainte clé : le fournisseur va commencer à envoyer des données en continu — donc ce n'est pas un script jetable, c'est le point de départ d'un vrai pipeline.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l'architecture complète. On voit 5 couches : le trigger (EventBridge), le batch (downloader + producer), le streaming (MSK + consumer), le lac de données avec les tables Iceberg, et la couche de service Athena. Tout est découplé — si le volume explose, on scale chaque couche indépendamment. Le code Python est dans un package partagé installé dans chaque conteneur ECS.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downloader commence toujours par un HTTP HEAD sur l'URL source. Il compare l'ETag retourné avec celui sauvegardé dans l'IngestionStateManager. Si c'est identique, on sort immédiatement — aucun re-téléchargement inutile. Si c'est nouveau, on télécharge, on archive le zip, on extrait le CSV, et on sauvegarde le nouvel état avec le statut 'extracted'. Le producer verra ce statut 'extracted' et sait qu'il y a du nouveau à produire.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Producer lit le CSV ligne par ligne et envoie chaque SalesRecord vers MSK. La clé Kafka est l'order_id, ce qui garantit que tous les messages d'un même ordre vont sur la même partition. Le Bronze Consumer reçoit ces messages, construit un BronzeRecord avec les métadonnées Kafka, et les écrit en Iceberg via PyIceberg. L'offset n'est commité qu'après l'écriture réussie — at-least-once garanti.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transformation est une pure fonction Python : transform_to_silver(bronze) → silver. Elle calcule les champs dérivés (lead_time_days, margin_pct en Decimal), type tous les montants en Decimal pour éviter les erreurs d'arrondi IEEE-754, et assigne les clés de partition. La dédup se fait sur source_kafka_offset chargé depuis la table Iceberg existante au démarrage. Pas de doublon même si on rejoue les messages Kafka.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Athena Engine v3 peut requêter les tables Iceberg directement depuis Glue — pas besoin de crawler ou de jobs ETL. Les tables sont enregistrées par PyIceberg à l'écriture. J'ai défini 3 named queries préconfigurées dans le workgroup. Le scan limit à 10GB protège les coûts en dev et int. En prod, la limite peut être relevée ou supprimée.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modules Terraform couvrent toute l'infrastructure. Chaque module a ses propres variables, outputs, et peut être testé indépendamment. Les 4 environnements se distinguent principalement par la taille du cluster MSK. En prod : kafka.m5.2xlarge avec 3 brokers pour la haute disponibilité multi-AZ. En dev : kafka.t3.small avec 1 seul broker pour minimiser les coûts.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L'architecture est conçue pour la continuité depuis le départ. Le layer Kafka est déjà continu — les consumers tournent en permanence et consomment dès qu'un message arrive. Seul le côté batch (downloader + producer) est déclenché par le scheduler. La clé de l'évolution : on n'a touché qu'au downloader et on a ajouté le scheduler — aucun des services core n'a changé.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slide est celui que vous voudrez bien maîtriser pour le Q&amp;A. Les questions les plus probables : pourquoi Kafka et pas juste S3 event trigger ? Réponse : replay, découplage, fan-out futur. Pourquoi Python et pas Spark ? 2M rows/jour c'est trivial pour Python sur Fargate. Si le volume augmentait à 100M+, on switcherait le transformer sur Flink sans changer le DAO.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projet est un monorepo avec un package Python partagé installé en mode éditable dans chaque service (pip install -e packages/). Les services sont légers — ils importent depuis economics_pipeline et orchestrent la logique. Les tests sont en 3 tiers : unit (pas d'infra), integration (Kafka ou DAO réel), e2e (pipeline complet). 95 tests unitaires, tous passent sans dépendances externes.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conclure : les 5 exigences du case study sont toutes couvertes. En 15 minutes on a parcouru l'architecture, les 4 étapes du dataflow, l'IaC, et les choix techniques. Les questions les plus probables sont sur Kafka vs S3 events, et Python vs Spark — vous avez les réponses. Merci!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0"/>
            <a:ext cx="12188952" cy="457200"/>
          </a:xfrm>
          <a:prstGeom prst="rect">
            <a:avLst/>
          </a:prstGeom>
          <a:solidFill>
            <a:srgbClr val="E8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097280"/>
            <a:ext cx="10908792" cy="4389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280160"/>
            <a:ext cx="10543032" cy="914400"/>
          </a:xfrm>
          <a:prstGeom prst="rect">
            <a:avLst/>
          </a:prstGeom>
          <a:noFill/>
        </p:spPr>
        <p:txBody>
          <a:bodyPr wrap="square">
            <a:spAutoFit/>
          </a:bodyPr>
          <a:lstStyle/>
          <a:p>
            <a:pPr algn="l"/>
            <a:r>
              <a:rPr sz="4000" b="1">
                <a:solidFill>
                  <a:srgbClr val="002B5C"/>
                </a:solidFill>
                <a:latin typeface="Calibri"/>
              </a:rPr>
              <a:t>IATA Economics</a:t>
            </a:r>
          </a:p>
        </p:txBody>
      </p:sp>
      <p:sp>
        <p:nvSpPr>
          <p:cNvPr id="6" name="TextBox 5"/>
          <p:cNvSpPr txBox="1"/>
          <p:nvPr/>
        </p:nvSpPr>
        <p:spPr>
          <a:xfrm>
            <a:off x="822960" y="2103120"/>
            <a:ext cx="10543032" cy="822960"/>
          </a:xfrm>
          <a:prstGeom prst="rect">
            <a:avLst/>
          </a:prstGeom>
          <a:noFill/>
        </p:spPr>
        <p:txBody>
          <a:bodyPr wrap="square">
            <a:spAutoFit/>
          </a:bodyPr>
          <a:lstStyle/>
          <a:p>
            <a:pPr algn="l"/>
            <a:r>
              <a:rPr sz="3600" b="0">
                <a:solidFill>
                  <a:srgbClr val="006CA9"/>
                </a:solidFill>
                <a:latin typeface="Calibri"/>
              </a:rPr>
              <a:t>Data Ingestion Pipeline</a:t>
            </a:r>
          </a:p>
        </p:txBody>
      </p:sp>
      <p:sp>
        <p:nvSpPr>
          <p:cNvPr id="7" name="Rectangle 6"/>
          <p:cNvSpPr/>
          <p:nvPr/>
        </p:nvSpPr>
        <p:spPr>
          <a:xfrm>
            <a:off x="822960" y="2971800"/>
            <a:ext cx="4114800" cy="45720"/>
          </a:xfrm>
          <a:prstGeom prst="rect">
            <a:avLst/>
          </a:prstGeom>
          <a:solidFill>
            <a:srgbClr val="E8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3200400"/>
            <a:ext cx="10543032" cy="548640"/>
          </a:xfrm>
          <a:prstGeom prst="rect">
            <a:avLst/>
          </a:prstGeom>
          <a:noFill/>
        </p:spPr>
        <p:txBody>
          <a:bodyPr wrap="square">
            <a:spAutoFit/>
          </a:bodyPr>
          <a:lstStyle/>
          <a:p>
            <a:pPr algn="l"/>
            <a:r>
              <a:rPr sz="1600" b="0">
                <a:solidFill>
                  <a:srgbClr val="6B7280"/>
                </a:solidFill>
                <a:latin typeface="Calibri"/>
              </a:rPr>
              <a:t>Case Study — Production-Ready Streaming Architecture on AWS</a:t>
            </a:r>
          </a:p>
        </p:txBody>
      </p:sp>
      <p:sp>
        <p:nvSpPr>
          <p:cNvPr id="9" name="TextBox 8"/>
          <p:cNvSpPr txBox="1"/>
          <p:nvPr/>
        </p:nvSpPr>
        <p:spPr>
          <a:xfrm>
            <a:off x="822960" y="4480560"/>
            <a:ext cx="10543032" cy="365760"/>
          </a:xfrm>
          <a:prstGeom prst="rect">
            <a:avLst/>
          </a:prstGeom>
          <a:noFill/>
        </p:spPr>
        <p:txBody>
          <a:bodyPr wrap="square">
            <a:spAutoFit/>
          </a:bodyPr>
          <a:lstStyle/>
          <a:p>
            <a:pPr algn="l"/>
            <a:r>
              <a:rPr sz="1300" b="0">
                <a:solidFill>
                  <a:srgbClr val="6B7280"/>
                </a:solidFill>
                <a:latin typeface="Calibri"/>
              </a:rPr>
              <a:t>Laura Bourbon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57432" cy="548640"/>
          </a:xfrm>
          <a:prstGeom prst="rect">
            <a:avLst/>
          </a:prstGeom>
          <a:noFill/>
        </p:spPr>
        <p:txBody>
          <a:bodyPr wrap="square">
            <a:spAutoFit/>
          </a:bodyPr>
          <a:lstStyle/>
          <a:p>
            <a:pPr algn="l"/>
            <a:r>
              <a:rPr sz="2800" b="1">
                <a:solidFill>
                  <a:srgbClr val="FFFFFF"/>
                </a:solidFill>
                <a:latin typeface="Calibri"/>
              </a:rPr>
              <a:t>Agenda</a:t>
            </a:r>
          </a:p>
        </p:txBody>
      </p:sp>
      <p:sp>
        <p:nvSpPr>
          <p:cNvPr id="5" name="TextBox 4"/>
          <p:cNvSpPr txBox="1"/>
          <p:nvPr/>
        </p:nvSpPr>
        <p:spPr>
          <a:xfrm>
            <a:off x="365760" y="594360"/>
            <a:ext cx="11457432" cy="347472"/>
          </a:xfrm>
          <a:prstGeom prst="rect">
            <a:avLst/>
          </a:prstGeom>
          <a:noFill/>
        </p:spPr>
        <p:txBody>
          <a:bodyPr wrap="square">
            <a:spAutoFit/>
          </a:bodyPr>
          <a:lstStyle/>
          <a:p>
            <a:pPr algn="l"/>
            <a:r>
              <a:rPr sz="1400" b="0">
                <a:solidFill>
                  <a:srgbClr val="00AAD4"/>
                </a:solidFill>
                <a:latin typeface="Calibri"/>
              </a:rPr>
              <a:t>15 minutes · 4 sections · Q&amp;A</a:t>
            </a:r>
          </a:p>
        </p:txBody>
      </p:sp>
      <p:sp>
        <p:nvSpPr>
          <p:cNvPr id="6" name="Rectangle 5"/>
          <p:cNvSpPr/>
          <p:nvPr/>
        </p:nvSpPr>
        <p:spPr>
          <a:xfrm>
            <a:off x="0" y="1005840"/>
            <a:ext cx="12188952" cy="36576"/>
          </a:xfrm>
          <a:prstGeom prst="rect">
            <a:avLst/>
          </a:prstGeom>
          <a:solidFill>
            <a:srgbClr val="E8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280160"/>
            <a:ext cx="502920" cy="5029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Calibri"/>
              </a:rPr>
              <a:t>01</a:t>
            </a:r>
          </a:p>
        </p:txBody>
      </p:sp>
      <p:sp>
        <p:nvSpPr>
          <p:cNvPr id="8" name="TextBox 7"/>
          <p:cNvSpPr txBox="1"/>
          <p:nvPr/>
        </p:nvSpPr>
        <p:spPr>
          <a:xfrm>
            <a:off x="1143000" y="1325880"/>
            <a:ext cx="7772400" cy="457200"/>
          </a:xfrm>
          <a:prstGeom prst="rect">
            <a:avLst/>
          </a:prstGeom>
          <a:noFill/>
        </p:spPr>
        <p:txBody>
          <a:bodyPr wrap="square">
            <a:spAutoFit/>
          </a:bodyPr>
          <a:lstStyle/>
          <a:p>
            <a:pPr algn="l"/>
            <a:r>
              <a:rPr sz="1800" b="1">
                <a:solidFill>
                  <a:srgbClr val="2D323B"/>
                </a:solidFill>
                <a:latin typeface="Calibri"/>
              </a:rPr>
              <a:t>Business Context &amp; Objective</a:t>
            </a:r>
          </a:p>
        </p:txBody>
      </p:sp>
      <p:sp>
        <p:nvSpPr>
          <p:cNvPr id="9" name="TextBox 8"/>
          <p:cNvSpPr txBox="1"/>
          <p:nvPr/>
        </p:nvSpPr>
        <p:spPr>
          <a:xfrm>
            <a:off x="9601200" y="1325880"/>
            <a:ext cx="1828800" cy="457200"/>
          </a:xfrm>
          <a:prstGeom prst="rect">
            <a:avLst/>
          </a:prstGeom>
          <a:noFill/>
        </p:spPr>
        <p:txBody>
          <a:bodyPr wrap="square">
            <a:spAutoFit/>
          </a:bodyPr>
          <a:lstStyle/>
          <a:p>
            <a:pPr algn="r"/>
            <a:r>
              <a:rPr sz="1400" b="0">
                <a:solidFill>
                  <a:srgbClr val="6B7280"/>
                </a:solidFill>
                <a:latin typeface="Calibri"/>
              </a:rPr>
              <a:t>1 min</a:t>
            </a:r>
          </a:p>
        </p:txBody>
      </p:sp>
      <p:sp>
        <p:nvSpPr>
          <p:cNvPr id="10" name="Rectangle 9"/>
          <p:cNvSpPr/>
          <p:nvPr/>
        </p:nvSpPr>
        <p:spPr>
          <a:xfrm>
            <a:off x="457200" y="2029967"/>
            <a:ext cx="502920" cy="5029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Calibri"/>
              </a:rPr>
              <a:t>02</a:t>
            </a:r>
          </a:p>
        </p:txBody>
      </p:sp>
      <p:sp>
        <p:nvSpPr>
          <p:cNvPr id="11" name="TextBox 10"/>
          <p:cNvSpPr txBox="1"/>
          <p:nvPr/>
        </p:nvSpPr>
        <p:spPr>
          <a:xfrm>
            <a:off x="1143000" y="2075687"/>
            <a:ext cx="7772400" cy="457200"/>
          </a:xfrm>
          <a:prstGeom prst="rect">
            <a:avLst/>
          </a:prstGeom>
          <a:noFill/>
        </p:spPr>
        <p:txBody>
          <a:bodyPr wrap="square">
            <a:spAutoFit/>
          </a:bodyPr>
          <a:lstStyle/>
          <a:p>
            <a:pPr algn="l"/>
            <a:r>
              <a:rPr sz="1800" b="1">
                <a:solidFill>
                  <a:srgbClr val="2D323B"/>
                </a:solidFill>
                <a:latin typeface="Calibri"/>
              </a:rPr>
              <a:t>Architecture Overview</a:t>
            </a:r>
          </a:p>
        </p:txBody>
      </p:sp>
      <p:sp>
        <p:nvSpPr>
          <p:cNvPr id="12" name="TextBox 11"/>
          <p:cNvSpPr txBox="1"/>
          <p:nvPr/>
        </p:nvSpPr>
        <p:spPr>
          <a:xfrm>
            <a:off x="9601200" y="2075687"/>
            <a:ext cx="1828800" cy="457200"/>
          </a:xfrm>
          <a:prstGeom prst="rect">
            <a:avLst/>
          </a:prstGeom>
          <a:noFill/>
        </p:spPr>
        <p:txBody>
          <a:bodyPr wrap="square">
            <a:spAutoFit/>
          </a:bodyPr>
          <a:lstStyle/>
          <a:p>
            <a:pPr algn="r"/>
            <a:r>
              <a:rPr sz="1400" b="0">
                <a:solidFill>
                  <a:srgbClr val="6B7280"/>
                </a:solidFill>
                <a:latin typeface="Calibri"/>
              </a:rPr>
              <a:t>2 min</a:t>
            </a:r>
          </a:p>
        </p:txBody>
      </p:sp>
      <p:sp>
        <p:nvSpPr>
          <p:cNvPr id="13" name="Rectangle 12"/>
          <p:cNvSpPr/>
          <p:nvPr/>
        </p:nvSpPr>
        <p:spPr>
          <a:xfrm>
            <a:off x="457200" y="2779776"/>
            <a:ext cx="502920" cy="5029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Calibri"/>
              </a:rPr>
              <a:t>03</a:t>
            </a:r>
          </a:p>
        </p:txBody>
      </p:sp>
      <p:sp>
        <p:nvSpPr>
          <p:cNvPr id="14" name="TextBox 13"/>
          <p:cNvSpPr txBox="1"/>
          <p:nvPr/>
        </p:nvSpPr>
        <p:spPr>
          <a:xfrm>
            <a:off x="1143000" y="2825496"/>
            <a:ext cx="7772400" cy="457200"/>
          </a:xfrm>
          <a:prstGeom prst="rect">
            <a:avLst/>
          </a:prstGeom>
          <a:noFill/>
        </p:spPr>
        <p:txBody>
          <a:bodyPr wrap="square">
            <a:spAutoFit/>
          </a:bodyPr>
          <a:lstStyle/>
          <a:p>
            <a:pPr algn="l"/>
            <a:r>
              <a:rPr sz="1800" b="1">
                <a:solidFill>
                  <a:srgbClr val="2D323B"/>
                </a:solidFill>
                <a:latin typeface="Calibri"/>
              </a:rPr>
              <a:t>Deep Dive — 4-Step Dataflow</a:t>
            </a:r>
          </a:p>
        </p:txBody>
      </p:sp>
      <p:sp>
        <p:nvSpPr>
          <p:cNvPr id="15" name="TextBox 14"/>
          <p:cNvSpPr txBox="1"/>
          <p:nvPr/>
        </p:nvSpPr>
        <p:spPr>
          <a:xfrm>
            <a:off x="9601200" y="2825496"/>
            <a:ext cx="1828800" cy="457200"/>
          </a:xfrm>
          <a:prstGeom prst="rect">
            <a:avLst/>
          </a:prstGeom>
          <a:noFill/>
        </p:spPr>
        <p:txBody>
          <a:bodyPr wrap="square">
            <a:spAutoFit/>
          </a:bodyPr>
          <a:lstStyle/>
          <a:p>
            <a:pPr algn="r"/>
            <a:r>
              <a:rPr sz="1400" b="0">
                <a:solidFill>
                  <a:srgbClr val="6B7280"/>
                </a:solidFill>
                <a:latin typeface="Calibri"/>
              </a:rPr>
              <a:t>7 min</a:t>
            </a:r>
          </a:p>
        </p:txBody>
      </p:sp>
      <p:sp>
        <p:nvSpPr>
          <p:cNvPr id="16" name="Rectangle 15"/>
          <p:cNvSpPr/>
          <p:nvPr/>
        </p:nvSpPr>
        <p:spPr>
          <a:xfrm>
            <a:off x="457200" y="3529584"/>
            <a:ext cx="502920" cy="5029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Calibri"/>
              </a:rPr>
              <a:t>04</a:t>
            </a:r>
          </a:p>
        </p:txBody>
      </p:sp>
      <p:sp>
        <p:nvSpPr>
          <p:cNvPr id="17" name="TextBox 16"/>
          <p:cNvSpPr txBox="1"/>
          <p:nvPr/>
        </p:nvSpPr>
        <p:spPr>
          <a:xfrm>
            <a:off x="1143000" y="3575303"/>
            <a:ext cx="7772400" cy="457200"/>
          </a:xfrm>
          <a:prstGeom prst="rect">
            <a:avLst/>
          </a:prstGeom>
          <a:noFill/>
        </p:spPr>
        <p:txBody>
          <a:bodyPr wrap="square">
            <a:spAutoFit/>
          </a:bodyPr>
          <a:lstStyle/>
          <a:p>
            <a:pPr algn="l"/>
            <a:r>
              <a:rPr sz="1800" b="1">
                <a:solidFill>
                  <a:srgbClr val="2D323B"/>
                </a:solidFill>
                <a:latin typeface="Calibri"/>
              </a:rPr>
              <a:t>Infrastructure as Code</a:t>
            </a:r>
          </a:p>
        </p:txBody>
      </p:sp>
      <p:sp>
        <p:nvSpPr>
          <p:cNvPr id="18" name="TextBox 17"/>
          <p:cNvSpPr txBox="1"/>
          <p:nvPr/>
        </p:nvSpPr>
        <p:spPr>
          <a:xfrm>
            <a:off x="9601200" y="3575303"/>
            <a:ext cx="1828800" cy="457200"/>
          </a:xfrm>
          <a:prstGeom prst="rect">
            <a:avLst/>
          </a:prstGeom>
          <a:noFill/>
        </p:spPr>
        <p:txBody>
          <a:bodyPr wrap="square">
            <a:spAutoFit/>
          </a:bodyPr>
          <a:lstStyle/>
          <a:p>
            <a:pPr algn="r"/>
            <a:r>
              <a:rPr sz="1400" b="0">
                <a:solidFill>
                  <a:srgbClr val="6B7280"/>
                </a:solidFill>
                <a:latin typeface="Calibri"/>
              </a:rPr>
              <a:t>2 min</a:t>
            </a:r>
          </a:p>
        </p:txBody>
      </p:sp>
      <p:sp>
        <p:nvSpPr>
          <p:cNvPr id="19" name="Rectangle 18"/>
          <p:cNvSpPr/>
          <p:nvPr/>
        </p:nvSpPr>
        <p:spPr>
          <a:xfrm>
            <a:off x="457200" y="4279392"/>
            <a:ext cx="502920" cy="5029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Calibri"/>
              </a:rPr>
              <a:t>05</a:t>
            </a:r>
          </a:p>
        </p:txBody>
      </p:sp>
      <p:sp>
        <p:nvSpPr>
          <p:cNvPr id="20" name="TextBox 19"/>
          <p:cNvSpPr txBox="1"/>
          <p:nvPr/>
        </p:nvSpPr>
        <p:spPr>
          <a:xfrm>
            <a:off x="1143000" y="4325112"/>
            <a:ext cx="7772400" cy="457200"/>
          </a:xfrm>
          <a:prstGeom prst="rect">
            <a:avLst/>
          </a:prstGeom>
          <a:noFill/>
        </p:spPr>
        <p:txBody>
          <a:bodyPr wrap="square">
            <a:spAutoFit/>
          </a:bodyPr>
          <a:lstStyle/>
          <a:p>
            <a:pPr algn="l"/>
            <a:r>
              <a:rPr sz="1800" b="1">
                <a:solidFill>
                  <a:srgbClr val="2D323B"/>
                </a:solidFill>
                <a:latin typeface="Calibri"/>
              </a:rPr>
              <a:t>Key Design Decisions</a:t>
            </a:r>
          </a:p>
        </p:txBody>
      </p:sp>
      <p:sp>
        <p:nvSpPr>
          <p:cNvPr id="21" name="TextBox 20"/>
          <p:cNvSpPr txBox="1"/>
          <p:nvPr/>
        </p:nvSpPr>
        <p:spPr>
          <a:xfrm>
            <a:off x="9601200" y="4325112"/>
            <a:ext cx="1828800" cy="457200"/>
          </a:xfrm>
          <a:prstGeom prst="rect">
            <a:avLst/>
          </a:prstGeom>
          <a:noFill/>
        </p:spPr>
        <p:txBody>
          <a:bodyPr wrap="square">
            <a:spAutoFit/>
          </a:bodyPr>
          <a:lstStyle/>
          <a:p>
            <a:pPr algn="r"/>
            <a:r>
              <a:rPr sz="1400" b="0">
                <a:solidFill>
                  <a:srgbClr val="6B7280"/>
                </a:solidFill>
                <a:latin typeface="Calibri"/>
              </a:rPr>
              <a:t>2 min</a:t>
            </a:r>
          </a:p>
        </p:txBody>
      </p:sp>
      <p:sp>
        <p:nvSpPr>
          <p:cNvPr id="22" name="Rectangle 21"/>
          <p:cNvSpPr/>
          <p:nvPr/>
        </p:nvSpPr>
        <p:spPr>
          <a:xfrm>
            <a:off x="457200" y="5029200"/>
            <a:ext cx="502920" cy="50292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Calibri"/>
              </a:rPr>
              <a:t>  </a:t>
            </a:r>
          </a:p>
        </p:txBody>
      </p:sp>
      <p:sp>
        <p:nvSpPr>
          <p:cNvPr id="23" name="TextBox 22"/>
          <p:cNvSpPr txBox="1"/>
          <p:nvPr/>
        </p:nvSpPr>
        <p:spPr>
          <a:xfrm>
            <a:off x="1143000" y="5074920"/>
            <a:ext cx="7772400" cy="457200"/>
          </a:xfrm>
          <a:prstGeom prst="rect">
            <a:avLst/>
          </a:prstGeom>
          <a:noFill/>
        </p:spPr>
        <p:txBody>
          <a:bodyPr wrap="square">
            <a:spAutoFit/>
          </a:bodyPr>
          <a:lstStyle/>
          <a:p>
            <a:pPr algn="l"/>
            <a:r>
              <a:rPr sz="1800" b="0">
                <a:solidFill>
                  <a:srgbClr val="2D323B"/>
                </a:solidFill>
                <a:latin typeface="Calibri"/>
              </a:rPr>
              <a:t>Q&amp;A</a:t>
            </a:r>
          </a:p>
        </p:txBody>
      </p:sp>
      <p:sp>
        <p:nvSpPr>
          <p:cNvPr id="24" name="TextBox 23"/>
          <p:cNvSpPr txBox="1"/>
          <p:nvPr/>
        </p:nvSpPr>
        <p:spPr>
          <a:xfrm>
            <a:off x="9601200" y="5074920"/>
            <a:ext cx="1828800" cy="457200"/>
          </a:xfrm>
          <a:prstGeom prst="rect">
            <a:avLst/>
          </a:prstGeom>
          <a:noFill/>
        </p:spPr>
        <p:txBody>
          <a:bodyPr wrap="square">
            <a:spAutoFit/>
          </a:bodyPr>
          <a:lstStyle/>
          <a:p>
            <a:pPr algn="r"/>
            <a:r>
              <a:rPr sz="1400" b="0">
                <a:solidFill>
                  <a:srgbClr val="6B7280"/>
                </a:solidFill>
                <a:latin typeface="Calibri"/>
              </a:rPr>
              <a:t>1 min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57432" cy="548640"/>
          </a:xfrm>
          <a:prstGeom prst="rect">
            <a:avLst/>
          </a:prstGeom>
          <a:noFill/>
        </p:spPr>
        <p:txBody>
          <a:bodyPr wrap="square">
            <a:spAutoFit/>
          </a:bodyPr>
          <a:lstStyle/>
          <a:p>
            <a:pPr algn="l"/>
            <a:r>
              <a:rPr sz="2800" b="1">
                <a:solidFill>
                  <a:srgbClr val="FFFFFF"/>
                </a:solidFill>
                <a:latin typeface="Calibri"/>
              </a:rPr>
              <a:t>Business Context</a:t>
            </a:r>
          </a:p>
        </p:txBody>
      </p:sp>
      <p:sp>
        <p:nvSpPr>
          <p:cNvPr id="5" name="TextBox 4"/>
          <p:cNvSpPr txBox="1"/>
          <p:nvPr/>
        </p:nvSpPr>
        <p:spPr>
          <a:xfrm>
            <a:off x="365760" y="594360"/>
            <a:ext cx="11457432" cy="347472"/>
          </a:xfrm>
          <a:prstGeom prst="rect">
            <a:avLst/>
          </a:prstGeom>
          <a:noFill/>
        </p:spPr>
        <p:txBody>
          <a:bodyPr wrap="square">
            <a:spAutoFit/>
          </a:bodyPr>
          <a:lstStyle/>
          <a:p>
            <a:pPr algn="l"/>
            <a:r>
              <a:rPr sz="1400" b="0">
                <a:solidFill>
                  <a:srgbClr val="00AAD4"/>
                </a:solidFill>
                <a:latin typeface="Calibri"/>
              </a:rPr>
              <a:t>What we need to build and why</a:t>
            </a:r>
          </a:p>
        </p:txBody>
      </p:sp>
      <p:sp>
        <p:nvSpPr>
          <p:cNvPr id="6" name="Rectangle 5"/>
          <p:cNvSpPr/>
          <p:nvPr/>
        </p:nvSpPr>
        <p:spPr>
          <a:xfrm>
            <a:off x="0" y="1005840"/>
            <a:ext cx="12188952" cy="36576"/>
          </a:xfrm>
          <a:prstGeom prst="rect">
            <a:avLst/>
          </a:prstGeom>
          <a:solidFill>
            <a:srgbClr val="E8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188720"/>
            <a:ext cx="5303520" cy="365760"/>
          </a:xfrm>
          <a:prstGeom prst="rect">
            <a:avLst/>
          </a:prstGeom>
          <a:solidFill>
            <a:srgbClr val="006CA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SITUATION</a:t>
            </a:r>
          </a:p>
        </p:txBody>
      </p:sp>
      <p:sp>
        <p:nvSpPr>
          <p:cNvPr id="8" name="Rectangle 7"/>
          <p:cNvSpPr/>
          <p:nvPr/>
        </p:nvSpPr>
        <p:spPr>
          <a:xfrm>
            <a:off x="365760" y="1554480"/>
            <a:ext cx="5303520" cy="3200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1640"/>
            <a:ext cx="4937760" cy="292608"/>
          </a:xfrm>
          <a:prstGeom prst="rect">
            <a:avLst/>
          </a:prstGeom>
          <a:noFill/>
        </p:spPr>
        <p:txBody>
          <a:bodyPr wrap="square">
            <a:spAutoFit/>
          </a:bodyPr>
          <a:lstStyle/>
          <a:p>
            <a:pPr algn="l"/>
            <a:r>
              <a:rPr sz="1300" b="0">
                <a:solidFill>
                  <a:srgbClr val="2D323B"/>
                </a:solidFill>
                <a:latin typeface="Calibri"/>
              </a:rPr>
              <a:t>📦  Source: CSV file with 2M+ sales records</a:t>
            </a:r>
          </a:p>
        </p:txBody>
      </p:sp>
      <p:sp>
        <p:nvSpPr>
          <p:cNvPr id="10" name="TextBox 9"/>
          <p:cNvSpPr txBox="1"/>
          <p:nvPr/>
        </p:nvSpPr>
        <p:spPr>
          <a:xfrm>
            <a:off x="548640" y="1975104"/>
            <a:ext cx="4937760" cy="292608"/>
          </a:xfrm>
          <a:prstGeom prst="rect">
            <a:avLst/>
          </a:prstGeom>
          <a:noFill/>
        </p:spPr>
        <p:txBody>
          <a:bodyPr wrap="square">
            <a:spAutoFit/>
          </a:bodyPr>
          <a:lstStyle/>
          <a:p>
            <a:pPr algn="l"/>
            <a:r>
              <a:rPr sz="1300" b="0">
                <a:solidFill>
                  <a:srgbClr val="2D323B"/>
                </a:solidFill>
                <a:latin typeface="Calibri"/>
              </a:rPr>
              <a:t>      Provider URL (zipped) — updated daily</a:t>
            </a:r>
          </a:p>
        </p:txBody>
      </p:sp>
      <p:sp>
        <p:nvSpPr>
          <p:cNvPr id="11" name="TextBox 10"/>
          <p:cNvSpPr txBox="1"/>
          <p:nvPr/>
        </p:nvSpPr>
        <p:spPr>
          <a:xfrm>
            <a:off x="548640" y="2258568"/>
            <a:ext cx="4937760" cy="292608"/>
          </a:xfrm>
          <a:prstGeom prst="rect">
            <a:avLst/>
          </a:prstGeom>
          <a:noFill/>
        </p:spPr>
        <p:txBody>
          <a:bodyPr wrap="square">
            <a:spAutoFit/>
          </a:bodyPr>
          <a:lstStyle/>
          <a:p>
            <a:pPr algn="l"/>
            <a:r>
              <a:rPr sz="1300" b="0">
                <a:solidFill>
                  <a:srgbClr val="2D323B"/>
                </a:solidFill>
                <a:latin typeface="Calibri"/>
              </a:rPr>
              <a:t/>
            </a:r>
          </a:p>
        </p:txBody>
      </p:sp>
      <p:sp>
        <p:nvSpPr>
          <p:cNvPr id="12" name="TextBox 11"/>
          <p:cNvSpPr txBox="1"/>
          <p:nvPr/>
        </p:nvSpPr>
        <p:spPr>
          <a:xfrm>
            <a:off x="548640" y="2542032"/>
            <a:ext cx="4937760" cy="292608"/>
          </a:xfrm>
          <a:prstGeom prst="rect">
            <a:avLst/>
          </a:prstGeom>
          <a:noFill/>
        </p:spPr>
        <p:txBody>
          <a:bodyPr wrap="square">
            <a:spAutoFit/>
          </a:bodyPr>
          <a:lstStyle/>
          <a:p>
            <a:pPr algn="l"/>
            <a:r>
              <a:rPr sz="1300" b="0">
                <a:solidFill>
                  <a:srgbClr val="2D323B"/>
                </a:solidFill>
                <a:latin typeface="Calibri"/>
              </a:rPr>
              <a:t>📋  Fields: 14 business columns</a:t>
            </a:r>
          </a:p>
        </p:txBody>
      </p:sp>
      <p:sp>
        <p:nvSpPr>
          <p:cNvPr id="13" name="TextBox 12"/>
          <p:cNvSpPr txBox="1"/>
          <p:nvPr/>
        </p:nvSpPr>
        <p:spPr>
          <a:xfrm>
            <a:off x="548640" y="2825496"/>
            <a:ext cx="4937760" cy="292608"/>
          </a:xfrm>
          <a:prstGeom prst="rect">
            <a:avLst/>
          </a:prstGeom>
          <a:noFill/>
        </p:spPr>
        <p:txBody>
          <a:bodyPr wrap="square">
            <a:spAutoFit/>
          </a:bodyPr>
          <a:lstStyle/>
          <a:p>
            <a:pPr algn="l"/>
            <a:r>
              <a:rPr sz="1300" b="0">
                <a:solidFill>
                  <a:srgbClr val="2D323B"/>
                </a:solidFill>
                <a:latin typeface="Calibri"/>
              </a:rPr>
              <a:t>      Orders, countries, revenues, margins…</a:t>
            </a:r>
          </a:p>
        </p:txBody>
      </p:sp>
      <p:sp>
        <p:nvSpPr>
          <p:cNvPr id="14" name="TextBox 13"/>
          <p:cNvSpPr txBox="1"/>
          <p:nvPr/>
        </p:nvSpPr>
        <p:spPr>
          <a:xfrm>
            <a:off x="548640" y="3108960"/>
            <a:ext cx="4937760" cy="292608"/>
          </a:xfrm>
          <a:prstGeom prst="rect">
            <a:avLst/>
          </a:prstGeom>
          <a:noFill/>
        </p:spPr>
        <p:txBody>
          <a:bodyPr wrap="square">
            <a:spAutoFit/>
          </a:bodyPr>
          <a:lstStyle/>
          <a:p>
            <a:pPr algn="l"/>
            <a:r>
              <a:rPr sz="1300" b="0">
                <a:solidFill>
                  <a:srgbClr val="2D323B"/>
                </a:solidFill>
                <a:latin typeface="Calibri"/>
              </a:rPr>
              <a:t/>
            </a:r>
          </a:p>
        </p:txBody>
      </p:sp>
      <p:sp>
        <p:nvSpPr>
          <p:cNvPr id="15" name="TextBox 14"/>
          <p:cNvSpPr txBox="1"/>
          <p:nvPr/>
        </p:nvSpPr>
        <p:spPr>
          <a:xfrm>
            <a:off x="548640" y="3392424"/>
            <a:ext cx="4937760" cy="292608"/>
          </a:xfrm>
          <a:prstGeom prst="rect">
            <a:avLst/>
          </a:prstGeom>
          <a:noFill/>
        </p:spPr>
        <p:txBody>
          <a:bodyPr wrap="square">
            <a:spAutoFit/>
          </a:bodyPr>
          <a:lstStyle/>
          <a:p>
            <a:pPr algn="l"/>
            <a:r>
              <a:rPr sz="1300" b="0">
                <a:solidFill>
                  <a:srgbClr val="2D323B"/>
                </a:solidFill>
                <a:latin typeface="Calibri"/>
              </a:rPr>
              <a:t>🎯  Target: Queryable data lake on AWS</a:t>
            </a:r>
          </a:p>
        </p:txBody>
      </p:sp>
      <p:sp>
        <p:nvSpPr>
          <p:cNvPr id="16" name="TextBox 15"/>
          <p:cNvSpPr txBox="1"/>
          <p:nvPr/>
        </p:nvSpPr>
        <p:spPr>
          <a:xfrm>
            <a:off x="548640" y="3675887"/>
            <a:ext cx="4937760" cy="292608"/>
          </a:xfrm>
          <a:prstGeom prst="rect">
            <a:avLst/>
          </a:prstGeom>
          <a:noFill/>
        </p:spPr>
        <p:txBody>
          <a:bodyPr wrap="square">
            <a:spAutoFit/>
          </a:bodyPr>
          <a:lstStyle/>
          <a:p>
            <a:pPr algn="l"/>
            <a:r>
              <a:rPr sz="1300" b="0">
                <a:solidFill>
                  <a:srgbClr val="2D323B"/>
                </a:solidFill>
                <a:latin typeface="Calibri"/>
              </a:rPr>
              <a:t>      Bronze (raw) + Silver (curated)</a:t>
            </a:r>
          </a:p>
        </p:txBody>
      </p:sp>
      <p:sp>
        <p:nvSpPr>
          <p:cNvPr id="17" name="TextBox 16"/>
          <p:cNvSpPr txBox="1"/>
          <p:nvPr/>
        </p:nvSpPr>
        <p:spPr>
          <a:xfrm>
            <a:off x="548640" y="3959352"/>
            <a:ext cx="4937760" cy="292608"/>
          </a:xfrm>
          <a:prstGeom prst="rect">
            <a:avLst/>
          </a:prstGeom>
          <a:noFill/>
        </p:spPr>
        <p:txBody>
          <a:bodyPr wrap="square">
            <a:spAutoFit/>
          </a:bodyPr>
          <a:lstStyle/>
          <a:p>
            <a:pPr algn="l"/>
            <a:r>
              <a:rPr sz="1300" b="0">
                <a:solidFill>
                  <a:srgbClr val="2D323B"/>
                </a:solidFill>
                <a:latin typeface="Calibri"/>
              </a:rPr>
              <a:t/>
            </a:r>
          </a:p>
        </p:txBody>
      </p:sp>
      <p:sp>
        <p:nvSpPr>
          <p:cNvPr id="18" name="TextBox 17"/>
          <p:cNvSpPr txBox="1"/>
          <p:nvPr/>
        </p:nvSpPr>
        <p:spPr>
          <a:xfrm>
            <a:off x="548640" y="4242816"/>
            <a:ext cx="4937760" cy="292608"/>
          </a:xfrm>
          <a:prstGeom prst="rect">
            <a:avLst/>
          </a:prstGeom>
          <a:noFill/>
        </p:spPr>
        <p:txBody>
          <a:bodyPr wrap="square">
            <a:spAutoFit/>
          </a:bodyPr>
          <a:lstStyle/>
          <a:p>
            <a:pPr algn="l"/>
            <a:r>
              <a:rPr sz="1300" b="0">
                <a:solidFill>
                  <a:srgbClr val="2D323B"/>
                </a:solidFill>
                <a:latin typeface="Calibri"/>
              </a:rPr>
              <a:t>🔄  Continuous: daily batch from 2026</a:t>
            </a:r>
          </a:p>
        </p:txBody>
      </p:sp>
      <p:sp>
        <p:nvSpPr>
          <p:cNvPr id="19" name="Rectangle 18"/>
          <p:cNvSpPr/>
          <p:nvPr/>
        </p:nvSpPr>
        <p:spPr>
          <a:xfrm>
            <a:off x="5943600" y="1188720"/>
            <a:ext cx="5852160" cy="365760"/>
          </a:xfrm>
          <a:prstGeom prst="rect">
            <a:avLst/>
          </a:prstGeom>
          <a:solidFill>
            <a:srgbClr val="E86A1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5 REQUIREMENTS</a:t>
            </a:r>
          </a:p>
        </p:txBody>
      </p:sp>
      <p:sp>
        <p:nvSpPr>
          <p:cNvPr id="20" name="Rectangle 19"/>
          <p:cNvSpPr/>
          <p:nvPr/>
        </p:nvSpPr>
        <p:spPr>
          <a:xfrm>
            <a:off x="5943600" y="1554480"/>
            <a:ext cx="5852160" cy="3200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26480" y="1691640"/>
            <a:ext cx="365760" cy="320040"/>
          </a:xfrm>
          <a:prstGeom prst="rect">
            <a:avLst/>
          </a:prstGeom>
          <a:noFill/>
        </p:spPr>
        <p:txBody>
          <a:bodyPr wrap="square">
            <a:spAutoFit/>
          </a:bodyPr>
          <a:lstStyle/>
          <a:p>
            <a:pPr algn="l"/>
            <a:r>
              <a:rPr sz="1800" b="0">
                <a:solidFill>
                  <a:srgbClr val="2D323B"/>
                </a:solidFill>
                <a:latin typeface="Calibri"/>
              </a:rPr>
              <a:t>✅</a:t>
            </a:r>
          </a:p>
        </p:txBody>
      </p:sp>
      <p:sp>
        <p:nvSpPr>
          <p:cNvPr id="22" name="TextBox 21"/>
          <p:cNvSpPr txBox="1"/>
          <p:nvPr/>
        </p:nvSpPr>
        <p:spPr>
          <a:xfrm>
            <a:off x="6583680" y="1691640"/>
            <a:ext cx="4754880" cy="274320"/>
          </a:xfrm>
          <a:prstGeom prst="rect">
            <a:avLst/>
          </a:prstGeom>
          <a:noFill/>
        </p:spPr>
        <p:txBody>
          <a:bodyPr wrap="square">
            <a:spAutoFit/>
          </a:bodyPr>
          <a:lstStyle/>
          <a:p>
            <a:pPr algn="l"/>
            <a:r>
              <a:rPr sz="1400" b="1">
                <a:solidFill>
                  <a:srgbClr val="002B5C"/>
                </a:solidFill>
                <a:latin typeface="Calibri"/>
              </a:rPr>
              <a:t>Acquire &amp; Land</a:t>
            </a:r>
          </a:p>
        </p:txBody>
      </p:sp>
      <p:sp>
        <p:nvSpPr>
          <p:cNvPr id="23" name="TextBox 22"/>
          <p:cNvSpPr txBox="1"/>
          <p:nvPr/>
        </p:nvSpPr>
        <p:spPr>
          <a:xfrm>
            <a:off x="6583680" y="1965960"/>
            <a:ext cx="5029200" cy="274320"/>
          </a:xfrm>
          <a:prstGeom prst="rect">
            <a:avLst/>
          </a:prstGeom>
          <a:noFill/>
        </p:spPr>
        <p:txBody>
          <a:bodyPr wrap="square">
            <a:spAutoFit/>
          </a:bodyPr>
          <a:lstStyle/>
          <a:p>
            <a:pPr algn="l"/>
            <a:r>
              <a:rPr sz="1200" b="0">
                <a:solidFill>
                  <a:srgbClr val="6B7280"/>
                </a:solidFill>
                <a:latin typeface="Calibri"/>
              </a:rPr>
              <a:t>Batch trigger, archive + land on S3</a:t>
            </a:r>
          </a:p>
        </p:txBody>
      </p:sp>
      <p:sp>
        <p:nvSpPr>
          <p:cNvPr id="24" name="TextBox 23"/>
          <p:cNvSpPr txBox="1"/>
          <p:nvPr/>
        </p:nvSpPr>
        <p:spPr>
          <a:xfrm>
            <a:off x="6126480" y="2313432"/>
            <a:ext cx="365760" cy="320040"/>
          </a:xfrm>
          <a:prstGeom prst="rect">
            <a:avLst/>
          </a:prstGeom>
          <a:noFill/>
        </p:spPr>
        <p:txBody>
          <a:bodyPr wrap="square">
            <a:spAutoFit/>
          </a:bodyPr>
          <a:lstStyle/>
          <a:p>
            <a:pPr algn="l"/>
            <a:r>
              <a:rPr sz="1800" b="0">
                <a:solidFill>
                  <a:srgbClr val="2D323B"/>
                </a:solidFill>
                <a:latin typeface="Calibri"/>
              </a:rPr>
              <a:t>✅</a:t>
            </a:r>
          </a:p>
        </p:txBody>
      </p:sp>
      <p:sp>
        <p:nvSpPr>
          <p:cNvPr id="25" name="TextBox 24"/>
          <p:cNvSpPr txBox="1"/>
          <p:nvPr/>
        </p:nvSpPr>
        <p:spPr>
          <a:xfrm>
            <a:off x="6583680" y="2313432"/>
            <a:ext cx="4754880" cy="274320"/>
          </a:xfrm>
          <a:prstGeom prst="rect">
            <a:avLst/>
          </a:prstGeom>
          <a:noFill/>
        </p:spPr>
        <p:txBody>
          <a:bodyPr wrap="square">
            <a:spAutoFit/>
          </a:bodyPr>
          <a:lstStyle/>
          <a:p>
            <a:pPr algn="l"/>
            <a:r>
              <a:rPr sz="1400" b="1">
                <a:solidFill>
                  <a:srgbClr val="002B5C"/>
                </a:solidFill>
                <a:latin typeface="Calibri"/>
              </a:rPr>
              <a:t>Stream into Bronze</a:t>
            </a:r>
          </a:p>
        </p:txBody>
      </p:sp>
      <p:sp>
        <p:nvSpPr>
          <p:cNvPr id="26" name="TextBox 25"/>
          <p:cNvSpPr txBox="1"/>
          <p:nvPr/>
        </p:nvSpPr>
        <p:spPr>
          <a:xfrm>
            <a:off x="6583680" y="2587752"/>
            <a:ext cx="5029200" cy="274320"/>
          </a:xfrm>
          <a:prstGeom prst="rect">
            <a:avLst/>
          </a:prstGeom>
          <a:noFill/>
        </p:spPr>
        <p:txBody>
          <a:bodyPr wrap="square">
            <a:spAutoFit/>
          </a:bodyPr>
          <a:lstStyle/>
          <a:p>
            <a:pPr algn="l"/>
            <a:r>
              <a:rPr sz="1200" b="0">
                <a:solidFill>
                  <a:srgbClr val="6B7280"/>
                </a:solidFill>
                <a:latin typeface="Calibri"/>
              </a:rPr>
              <a:t>Real-time, Iceberg table, Glue catalog</a:t>
            </a:r>
          </a:p>
        </p:txBody>
      </p:sp>
      <p:sp>
        <p:nvSpPr>
          <p:cNvPr id="27" name="TextBox 26"/>
          <p:cNvSpPr txBox="1"/>
          <p:nvPr/>
        </p:nvSpPr>
        <p:spPr>
          <a:xfrm>
            <a:off x="6126480" y="2935224"/>
            <a:ext cx="365760" cy="320040"/>
          </a:xfrm>
          <a:prstGeom prst="rect">
            <a:avLst/>
          </a:prstGeom>
          <a:noFill/>
        </p:spPr>
        <p:txBody>
          <a:bodyPr wrap="square">
            <a:spAutoFit/>
          </a:bodyPr>
          <a:lstStyle/>
          <a:p>
            <a:pPr algn="l"/>
            <a:r>
              <a:rPr sz="1800" b="0">
                <a:solidFill>
                  <a:srgbClr val="2D323B"/>
                </a:solidFill>
                <a:latin typeface="Calibri"/>
              </a:rPr>
              <a:t>✅</a:t>
            </a:r>
          </a:p>
        </p:txBody>
      </p:sp>
      <p:sp>
        <p:nvSpPr>
          <p:cNvPr id="28" name="TextBox 27"/>
          <p:cNvSpPr txBox="1"/>
          <p:nvPr/>
        </p:nvSpPr>
        <p:spPr>
          <a:xfrm>
            <a:off x="6583680" y="2935224"/>
            <a:ext cx="4754880" cy="274320"/>
          </a:xfrm>
          <a:prstGeom prst="rect">
            <a:avLst/>
          </a:prstGeom>
          <a:noFill/>
        </p:spPr>
        <p:txBody>
          <a:bodyPr wrap="square">
            <a:spAutoFit/>
          </a:bodyPr>
          <a:lstStyle/>
          <a:p>
            <a:pPr algn="l"/>
            <a:r>
              <a:rPr sz="1400" b="1">
                <a:solidFill>
                  <a:srgbClr val="002B5C"/>
                </a:solidFill>
                <a:latin typeface="Calibri"/>
              </a:rPr>
              <a:t>Transform → Silver</a:t>
            </a:r>
          </a:p>
        </p:txBody>
      </p:sp>
      <p:sp>
        <p:nvSpPr>
          <p:cNvPr id="29" name="TextBox 28"/>
          <p:cNvSpPr txBox="1"/>
          <p:nvPr/>
        </p:nvSpPr>
        <p:spPr>
          <a:xfrm>
            <a:off x="6583680" y="3209544"/>
            <a:ext cx="5029200" cy="274320"/>
          </a:xfrm>
          <a:prstGeom prst="rect">
            <a:avLst/>
          </a:prstGeom>
          <a:noFill/>
        </p:spPr>
        <p:txBody>
          <a:bodyPr wrap="square">
            <a:spAutoFit/>
          </a:bodyPr>
          <a:lstStyle/>
          <a:p>
            <a:pPr algn="l"/>
            <a:r>
              <a:rPr sz="1200" b="0">
                <a:solidFill>
                  <a:srgbClr val="6B7280"/>
                </a:solidFill>
                <a:latin typeface="Calibri"/>
              </a:rPr>
              <a:t>Typed, deduped, partitioned</a:t>
            </a:r>
          </a:p>
        </p:txBody>
      </p:sp>
      <p:sp>
        <p:nvSpPr>
          <p:cNvPr id="30" name="TextBox 29"/>
          <p:cNvSpPr txBox="1"/>
          <p:nvPr/>
        </p:nvSpPr>
        <p:spPr>
          <a:xfrm>
            <a:off x="6126480" y="3557016"/>
            <a:ext cx="365760" cy="320040"/>
          </a:xfrm>
          <a:prstGeom prst="rect">
            <a:avLst/>
          </a:prstGeom>
          <a:noFill/>
        </p:spPr>
        <p:txBody>
          <a:bodyPr wrap="square">
            <a:spAutoFit/>
          </a:bodyPr>
          <a:lstStyle/>
          <a:p>
            <a:pPr algn="l"/>
            <a:r>
              <a:rPr sz="1800" b="0">
                <a:solidFill>
                  <a:srgbClr val="2D323B"/>
                </a:solidFill>
                <a:latin typeface="Calibri"/>
              </a:rPr>
              <a:t>✅</a:t>
            </a:r>
          </a:p>
        </p:txBody>
      </p:sp>
      <p:sp>
        <p:nvSpPr>
          <p:cNvPr id="31" name="TextBox 30"/>
          <p:cNvSpPr txBox="1"/>
          <p:nvPr/>
        </p:nvSpPr>
        <p:spPr>
          <a:xfrm>
            <a:off x="6583680" y="3557016"/>
            <a:ext cx="4754880" cy="274320"/>
          </a:xfrm>
          <a:prstGeom prst="rect">
            <a:avLst/>
          </a:prstGeom>
          <a:noFill/>
        </p:spPr>
        <p:txBody>
          <a:bodyPr wrap="square">
            <a:spAutoFit/>
          </a:bodyPr>
          <a:lstStyle/>
          <a:p>
            <a:pPr algn="l"/>
            <a:r>
              <a:rPr sz="1400" b="1">
                <a:solidFill>
                  <a:srgbClr val="002B5C"/>
                </a:solidFill>
                <a:latin typeface="Calibri"/>
              </a:rPr>
              <a:t>Serve</a:t>
            </a:r>
          </a:p>
        </p:txBody>
      </p:sp>
      <p:sp>
        <p:nvSpPr>
          <p:cNvPr id="32" name="TextBox 31"/>
          <p:cNvSpPr txBox="1"/>
          <p:nvPr/>
        </p:nvSpPr>
        <p:spPr>
          <a:xfrm>
            <a:off x="6583680" y="3831336"/>
            <a:ext cx="5029200" cy="274320"/>
          </a:xfrm>
          <a:prstGeom prst="rect">
            <a:avLst/>
          </a:prstGeom>
          <a:noFill/>
        </p:spPr>
        <p:txBody>
          <a:bodyPr wrap="square">
            <a:spAutoFit/>
          </a:bodyPr>
          <a:lstStyle/>
          <a:p>
            <a:pPr algn="l"/>
            <a:r>
              <a:rPr sz="1200" b="0">
                <a:solidFill>
                  <a:srgbClr val="6B7280"/>
                </a:solidFill>
                <a:latin typeface="Calibri"/>
              </a:rPr>
              <a:t>Amazon Athena queries on bronze &amp; silver</a:t>
            </a:r>
          </a:p>
        </p:txBody>
      </p:sp>
      <p:sp>
        <p:nvSpPr>
          <p:cNvPr id="33" name="TextBox 32"/>
          <p:cNvSpPr txBox="1"/>
          <p:nvPr/>
        </p:nvSpPr>
        <p:spPr>
          <a:xfrm>
            <a:off x="6126480" y="4178808"/>
            <a:ext cx="365760" cy="320040"/>
          </a:xfrm>
          <a:prstGeom prst="rect">
            <a:avLst/>
          </a:prstGeom>
          <a:noFill/>
        </p:spPr>
        <p:txBody>
          <a:bodyPr wrap="square">
            <a:spAutoFit/>
          </a:bodyPr>
          <a:lstStyle/>
          <a:p>
            <a:pPr algn="l"/>
            <a:r>
              <a:rPr sz="1800" b="0">
                <a:solidFill>
                  <a:srgbClr val="2D323B"/>
                </a:solidFill>
                <a:latin typeface="Calibri"/>
              </a:rPr>
              <a:t>✅</a:t>
            </a:r>
          </a:p>
        </p:txBody>
      </p:sp>
      <p:sp>
        <p:nvSpPr>
          <p:cNvPr id="34" name="TextBox 33"/>
          <p:cNvSpPr txBox="1"/>
          <p:nvPr/>
        </p:nvSpPr>
        <p:spPr>
          <a:xfrm>
            <a:off x="6583680" y="4178808"/>
            <a:ext cx="4754880" cy="274320"/>
          </a:xfrm>
          <a:prstGeom prst="rect">
            <a:avLst/>
          </a:prstGeom>
          <a:noFill/>
        </p:spPr>
        <p:txBody>
          <a:bodyPr wrap="square">
            <a:spAutoFit/>
          </a:bodyPr>
          <a:lstStyle/>
          <a:p>
            <a:pPr algn="l"/>
            <a:r>
              <a:rPr sz="1400" b="1">
                <a:solidFill>
                  <a:srgbClr val="002B5C"/>
                </a:solidFill>
                <a:latin typeface="Calibri"/>
              </a:rPr>
              <a:t>IaC</a:t>
            </a:r>
          </a:p>
        </p:txBody>
      </p:sp>
      <p:sp>
        <p:nvSpPr>
          <p:cNvPr id="35" name="TextBox 34"/>
          <p:cNvSpPr txBox="1"/>
          <p:nvPr/>
        </p:nvSpPr>
        <p:spPr>
          <a:xfrm>
            <a:off x="6583680" y="4453128"/>
            <a:ext cx="5029200" cy="274320"/>
          </a:xfrm>
          <a:prstGeom prst="rect">
            <a:avLst/>
          </a:prstGeom>
          <a:noFill/>
        </p:spPr>
        <p:txBody>
          <a:bodyPr wrap="square">
            <a:spAutoFit/>
          </a:bodyPr>
          <a:lstStyle/>
          <a:p>
            <a:pPr algn="l"/>
            <a:r>
              <a:rPr sz="1200" b="0">
                <a:solidFill>
                  <a:srgbClr val="6B7280"/>
                </a:solidFill>
                <a:latin typeface="Calibri"/>
              </a:rPr>
              <a:t>All resources deployable via Terraform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57432" cy="548640"/>
          </a:xfrm>
          <a:prstGeom prst="rect">
            <a:avLst/>
          </a:prstGeom>
          <a:noFill/>
        </p:spPr>
        <p:txBody>
          <a:bodyPr wrap="square">
            <a:spAutoFit/>
          </a:bodyPr>
          <a:lstStyle/>
          <a:p>
            <a:pPr algn="l"/>
            <a:r>
              <a:rPr sz="2800" b="1">
                <a:solidFill>
                  <a:srgbClr val="FFFFFF"/>
                </a:solidFill>
                <a:latin typeface="Calibri"/>
              </a:rPr>
              <a:t>Architecture Overview</a:t>
            </a:r>
          </a:p>
        </p:txBody>
      </p:sp>
      <p:sp>
        <p:nvSpPr>
          <p:cNvPr id="5" name="TextBox 4"/>
          <p:cNvSpPr txBox="1"/>
          <p:nvPr/>
        </p:nvSpPr>
        <p:spPr>
          <a:xfrm>
            <a:off x="365760" y="594360"/>
            <a:ext cx="11457432" cy="347472"/>
          </a:xfrm>
          <a:prstGeom prst="rect">
            <a:avLst/>
          </a:prstGeom>
          <a:noFill/>
        </p:spPr>
        <p:txBody>
          <a:bodyPr wrap="square">
            <a:spAutoFit/>
          </a:bodyPr>
          <a:lstStyle/>
          <a:p>
            <a:pPr algn="l"/>
            <a:r>
              <a:rPr sz="1400" b="0">
                <a:solidFill>
                  <a:srgbClr val="00AAD4"/>
                </a:solidFill>
                <a:latin typeface="Calibri"/>
              </a:rPr>
              <a:t>Medallion architecture on AWS — landing → bronze → silver</a:t>
            </a:r>
          </a:p>
        </p:txBody>
      </p:sp>
      <p:sp>
        <p:nvSpPr>
          <p:cNvPr id="6" name="Rectangle 5"/>
          <p:cNvSpPr/>
          <p:nvPr/>
        </p:nvSpPr>
        <p:spPr>
          <a:xfrm>
            <a:off x="0" y="1005840"/>
            <a:ext cx="12188952" cy="36576"/>
          </a:xfrm>
          <a:prstGeom prst="rect">
            <a:avLst/>
          </a:prstGeom>
          <a:solidFill>
            <a:srgbClr val="E8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 y="1143000"/>
            <a:ext cx="1005840" cy="384048"/>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 y="1143000"/>
            <a:ext cx="1005840" cy="384048"/>
          </a:xfrm>
          <a:prstGeom prst="rect">
            <a:avLst/>
          </a:prstGeom>
          <a:noFill/>
        </p:spPr>
        <p:txBody>
          <a:bodyPr wrap="square">
            <a:spAutoFit/>
          </a:bodyPr>
          <a:lstStyle/>
          <a:p>
            <a:pPr algn="ctr"/>
            <a:r>
              <a:rPr sz="1000" b="1">
                <a:solidFill>
                  <a:srgbClr val="FFFFFF"/>
                </a:solidFill>
                <a:latin typeface="Calibri"/>
              </a:rPr>
              <a:t>TRIGGER</a:t>
            </a:r>
          </a:p>
        </p:txBody>
      </p:sp>
      <p:sp>
        <p:nvSpPr>
          <p:cNvPr id="9" name="Rectangle 8"/>
          <p:cNvSpPr/>
          <p:nvPr/>
        </p:nvSpPr>
        <p:spPr>
          <a:xfrm>
            <a:off x="137160" y="1828800"/>
            <a:ext cx="1005840" cy="384048"/>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 y="1828800"/>
            <a:ext cx="1005840" cy="384048"/>
          </a:xfrm>
          <a:prstGeom prst="rect">
            <a:avLst/>
          </a:prstGeom>
          <a:noFill/>
        </p:spPr>
        <p:txBody>
          <a:bodyPr wrap="square">
            <a:spAutoFit/>
          </a:bodyPr>
          <a:lstStyle/>
          <a:p>
            <a:pPr algn="ctr"/>
            <a:r>
              <a:rPr sz="1000" b="1">
                <a:solidFill>
                  <a:srgbClr val="FFFFFF"/>
                </a:solidFill>
                <a:latin typeface="Calibri"/>
              </a:rPr>
              <a:t>BATCH</a:t>
            </a:r>
          </a:p>
        </p:txBody>
      </p:sp>
      <p:sp>
        <p:nvSpPr>
          <p:cNvPr id="11" name="Rectangle 10"/>
          <p:cNvSpPr/>
          <p:nvPr/>
        </p:nvSpPr>
        <p:spPr>
          <a:xfrm>
            <a:off x="137160" y="2606040"/>
            <a:ext cx="1005840" cy="384048"/>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 y="2606040"/>
            <a:ext cx="1005840" cy="384048"/>
          </a:xfrm>
          <a:prstGeom prst="rect">
            <a:avLst/>
          </a:prstGeom>
          <a:noFill/>
        </p:spPr>
        <p:txBody>
          <a:bodyPr wrap="square">
            <a:spAutoFit/>
          </a:bodyPr>
          <a:lstStyle/>
          <a:p>
            <a:pPr algn="ctr"/>
            <a:r>
              <a:rPr sz="1000" b="1">
                <a:solidFill>
                  <a:srgbClr val="FFFFFF"/>
                </a:solidFill>
                <a:latin typeface="Calibri"/>
              </a:rPr>
              <a:t>STREAM</a:t>
            </a:r>
          </a:p>
        </p:txBody>
      </p:sp>
      <p:sp>
        <p:nvSpPr>
          <p:cNvPr id="13" name="Rectangle 12"/>
          <p:cNvSpPr/>
          <p:nvPr/>
        </p:nvSpPr>
        <p:spPr>
          <a:xfrm>
            <a:off x="137160" y="3520440"/>
            <a:ext cx="1005840" cy="384048"/>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160" y="3520440"/>
            <a:ext cx="1005840" cy="384048"/>
          </a:xfrm>
          <a:prstGeom prst="rect">
            <a:avLst/>
          </a:prstGeom>
          <a:noFill/>
        </p:spPr>
        <p:txBody>
          <a:bodyPr wrap="square">
            <a:spAutoFit/>
          </a:bodyPr>
          <a:lstStyle/>
          <a:p>
            <a:pPr algn="ctr"/>
            <a:r>
              <a:rPr sz="1000" b="1">
                <a:solidFill>
                  <a:srgbClr val="FFFFFF"/>
                </a:solidFill>
                <a:latin typeface="Calibri"/>
              </a:rPr>
              <a:t>LAKE</a:t>
            </a:r>
          </a:p>
        </p:txBody>
      </p:sp>
      <p:sp>
        <p:nvSpPr>
          <p:cNvPr id="15" name="Rectangle 14"/>
          <p:cNvSpPr/>
          <p:nvPr/>
        </p:nvSpPr>
        <p:spPr>
          <a:xfrm>
            <a:off x="137160" y="4617720"/>
            <a:ext cx="1005840" cy="384048"/>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7160" y="4617720"/>
            <a:ext cx="1005840" cy="384048"/>
          </a:xfrm>
          <a:prstGeom prst="rect">
            <a:avLst/>
          </a:prstGeom>
          <a:noFill/>
        </p:spPr>
        <p:txBody>
          <a:bodyPr wrap="square">
            <a:spAutoFit/>
          </a:bodyPr>
          <a:lstStyle/>
          <a:p>
            <a:pPr algn="ctr"/>
            <a:r>
              <a:rPr sz="1000" b="1">
                <a:solidFill>
                  <a:srgbClr val="FFFFFF"/>
                </a:solidFill>
                <a:latin typeface="Calibri"/>
              </a:rPr>
              <a:t>SERVE</a:t>
            </a:r>
          </a:p>
        </p:txBody>
      </p:sp>
      <p:sp>
        <p:nvSpPr>
          <p:cNvPr id="17" name="Rectangle 16"/>
          <p:cNvSpPr/>
          <p:nvPr/>
        </p:nvSpPr>
        <p:spPr>
          <a:xfrm>
            <a:off x="1280160" y="1097280"/>
            <a:ext cx="1828800" cy="566928"/>
          </a:xfrm>
          <a:prstGeom prst="rect">
            <a:avLst/>
          </a:prstGeom>
          <a:solidFill>
            <a:srgbClr val="00AA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EventBridge
Scheduler
09:00 UTC</a:t>
            </a:r>
          </a:p>
        </p:txBody>
      </p:sp>
      <p:cxnSp>
        <p:nvCxnSpPr>
          <p:cNvPr id="18" name="Connector 17"/>
          <p:cNvCxnSpPr/>
          <p:nvPr/>
        </p:nvCxnSpPr>
        <p:spPr>
          <a:xfrm>
            <a:off x="3108960" y="1371600"/>
            <a:ext cx="548640" cy="0"/>
          </a:xfrm>
          <a:prstGeom prst="line">
            <a:avLst/>
          </a:prstGeom>
          <a:ln w="19050">
            <a:solidFill>
              <a:srgbClr val="6B7280"/>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3657600" y="1097280"/>
            <a:ext cx="1828800" cy="566928"/>
          </a:xfrm>
          <a:prstGeom prst="rect">
            <a:avLst/>
          </a:prstGeom>
          <a:solidFill>
            <a:srgbClr val="00AA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FFFFFF"/>
                </a:solidFill>
                <a:latin typeface="Calibri"/>
              </a:rPr>
              <a:t>Step Functions
State Machine</a:t>
            </a:r>
          </a:p>
        </p:txBody>
      </p:sp>
      <p:sp>
        <p:nvSpPr>
          <p:cNvPr id="20" name="Rectangle 19"/>
          <p:cNvSpPr/>
          <p:nvPr/>
        </p:nvSpPr>
        <p:spPr>
          <a:xfrm>
            <a:off x="8229600" y="1097280"/>
            <a:ext cx="2011680" cy="56692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2D323B"/>
                </a:solidFill>
                <a:latin typeface="Calibri"/>
              </a:rPr>
              <a:t>IngestionState
(S3 ETag tracking)</a:t>
            </a:r>
          </a:p>
        </p:txBody>
      </p:sp>
      <p:sp>
        <p:nvSpPr>
          <p:cNvPr id="21" name="Rectangle 20"/>
          <p:cNvSpPr/>
          <p:nvPr/>
        </p:nvSpPr>
        <p:spPr>
          <a:xfrm>
            <a:off x="1280160" y="1828800"/>
            <a:ext cx="1920240" cy="502920"/>
          </a:xfrm>
          <a:prstGeom prst="rect">
            <a:avLst/>
          </a:prstGeom>
          <a:solidFill>
            <a:srgbClr val="006CA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ECS Fargate
Downloader</a:t>
            </a:r>
          </a:p>
        </p:txBody>
      </p:sp>
      <p:cxnSp>
        <p:nvCxnSpPr>
          <p:cNvPr id="22" name="Connector 21"/>
          <p:cNvCxnSpPr/>
          <p:nvPr/>
        </p:nvCxnSpPr>
        <p:spPr>
          <a:xfrm>
            <a:off x="3200400" y="2057400"/>
            <a:ext cx="548639" cy="0"/>
          </a:xfrm>
          <a:prstGeom prst="line">
            <a:avLst/>
          </a:prstGeom>
          <a:ln w="19050">
            <a:solidFill>
              <a:srgbClr val="6B7280"/>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3749039" y="1828800"/>
            <a:ext cx="2194560" cy="502920"/>
          </a:xfrm>
          <a:prstGeom prst="rect">
            <a:avLst/>
          </a:prstGeom>
          <a:solidFill>
            <a:srgbClr val="E96B1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S3
archive/  landing/</a:t>
            </a:r>
          </a:p>
        </p:txBody>
      </p:sp>
      <p:cxnSp>
        <p:nvCxnSpPr>
          <p:cNvPr id="24" name="Connector 23"/>
          <p:cNvCxnSpPr/>
          <p:nvPr/>
        </p:nvCxnSpPr>
        <p:spPr>
          <a:xfrm>
            <a:off x="5943600" y="2057400"/>
            <a:ext cx="548640" cy="0"/>
          </a:xfrm>
          <a:prstGeom prst="line">
            <a:avLst/>
          </a:prstGeom>
          <a:ln w="19050">
            <a:solidFill>
              <a:srgbClr val="6B7280"/>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6492240" y="1828800"/>
            <a:ext cx="1920240" cy="502920"/>
          </a:xfrm>
          <a:prstGeom prst="rect">
            <a:avLst/>
          </a:prstGeom>
          <a:solidFill>
            <a:srgbClr val="006CA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ECS Fargate
Producer</a:t>
            </a:r>
          </a:p>
        </p:txBody>
      </p:sp>
      <p:cxnSp>
        <p:nvCxnSpPr>
          <p:cNvPr id="26" name="Connector 25"/>
          <p:cNvCxnSpPr/>
          <p:nvPr/>
        </p:nvCxnSpPr>
        <p:spPr>
          <a:xfrm>
            <a:off x="8412480" y="2057400"/>
            <a:ext cx="548640" cy="0"/>
          </a:xfrm>
          <a:prstGeom prst="line">
            <a:avLst/>
          </a:prstGeom>
          <a:ln w="19050">
            <a:solidFill>
              <a:srgbClr val="6B7280"/>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8961120" y="1828800"/>
            <a:ext cx="1737360" cy="5029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Amazon MSK
(Kafka)</a:t>
            </a:r>
          </a:p>
        </p:txBody>
      </p:sp>
      <p:sp>
        <p:nvSpPr>
          <p:cNvPr id="28" name="Rectangle 27"/>
          <p:cNvSpPr/>
          <p:nvPr/>
        </p:nvSpPr>
        <p:spPr>
          <a:xfrm>
            <a:off x="1280160" y="2606040"/>
            <a:ext cx="1737360" cy="5029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Amazon MSK
(Kafka)</a:t>
            </a:r>
          </a:p>
        </p:txBody>
      </p:sp>
      <p:cxnSp>
        <p:nvCxnSpPr>
          <p:cNvPr id="29" name="Connector 28"/>
          <p:cNvCxnSpPr/>
          <p:nvPr/>
        </p:nvCxnSpPr>
        <p:spPr>
          <a:xfrm>
            <a:off x="3017520" y="2834640"/>
            <a:ext cx="548640" cy="0"/>
          </a:xfrm>
          <a:prstGeom prst="line">
            <a:avLst/>
          </a:prstGeom>
          <a:ln w="19050">
            <a:solidFill>
              <a:srgbClr val="6B7280"/>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3566160" y="2606040"/>
            <a:ext cx="2194560" cy="502920"/>
          </a:xfrm>
          <a:prstGeom prst="rect">
            <a:avLst/>
          </a:prstGeom>
          <a:solidFill>
            <a:srgbClr val="006CA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ECS Fargate
Bronze Consumer</a:t>
            </a:r>
          </a:p>
        </p:txBody>
      </p:sp>
      <p:cxnSp>
        <p:nvCxnSpPr>
          <p:cNvPr id="31" name="Connector 30"/>
          <p:cNvCxnSpPr/>
          <p:nvPr/>
        </p:nvCxnSpPr>
        <p:spPr>
          <a:xfrm>
            <a:off x="5760720" y="2834640"/>
            <a:ext cx="548640" cy="0"/>
          </a:xfrm>
          <a:prstGeom prst="line">
            <a:avLst/>
          </a:prstGeom>
          <a:ln w="19050">
            <a:solidFill>
              <a:srgbClr val="6B7280"/>
            </a:solidFill>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6309360" y="2606040"/>
            <a:ext cx="2103120" cy="502920"/>
          </a:xfrm>
          <a:prstGeom prst="rect">
            <a:avLst/>
          </a:prstGeom>
          <a:solidFill>
            <a:srgbClr val="E96B1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S3
bronze/ (Iceberg)</a:t>
            </a:r>
          </a:p>
        </p:txBody>
      </p:sp>
      <p:cxnSp>
        <p:nvCxnSpPr>
          <p:cNvPr id="33" name="Connector 32"/>
          <p:cNvCxnSpPr/>
          <p:nvPr/>
        </p:nvCxnSpPr>
        <p:spPr>
          <a:xfrm>
            <a:off x="8412480" y="2834640"/>
            <a:ext cx="548640" cy="0"/>
          </a:xfrm>
          <a:prstGeom prst="line">
            <a:avLst/>
          </a:prstGeom>
          <a:ln w="19050">
            <a:solidFill>
              <a:srgbClr val="6B7280"/>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8961120" y="2606040"/>
            <a:ext cx="1737360" cy="502920"/>
          </a:xfrm>
          <a:prstGeom prst="rect">
            <a:avLst/>
          </a:prstGeom>
          <a:solidFill>
            <a:srgbClr val="279A5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Glue Data
Catalog</a:t>
            </a:r>
          </a:p>
        </p:txBody>
      </p:sp>
      <p:sp>
        <p:nvSpPr>
          <p:cNvPr id="35" name="Rectangle 34"/>
          <p:cNvSpPr/>
          <p:nvPr/>
        </p:nvSpPr>
        <p:spPr>
          <a:xfrm>
            <a:off x="1280160" y="3520440"/>
            <a:ext cx="2194560" cy="548640"/>
          </a:xfrm>
          <a:prstGeom prst="rect">
            <a:avLst/>
          </a:prstGeom>
          <a:solidFill>
            <a:srgbClr val="E96B1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S3 bronze/
(Iceberg Parquet)</a:t>
            </a:r>
          </a:p>
        </p:txBody>
      </p:sp>
      <p:cxnSp>
        <p:nvCxnSpPr>
          <p:cNvPr id="36" name="Connector 35"/>
          <p:cNvCxnSpPr/>
          <p:nvPr/>
        </p:nvCxnSpPr>
        <p:spPr>
          <a:xfrm>
            <a:off x="3474720" y="3749039"/>
            <a:ext cx="548640" cy="0"/>
          </a:xfrm>
          <a:prstGeom prst="line">
            <a:avLst/>
          </a:prstGeom>
          <a:ln w="19050">
            <a:solidFill>
              <a:srgbClr val="6B7280"/>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4023360" y="3520440"/>
            <a:ext cx="2194560" cy="548640"/>
          </a:xfrm>
          <a:prstGeom prst="rect">
            <a:avLst/>
          </a:prstGeom>
          <a:solidFill>
            <a:srgbClr val="006CA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ECS Fargate
Transformer Silver</a:t>
            </a:r>
          </a:p>
        </p:txBody>
      </p:sp>
      <p:cxnSp>
        <p:nvCxnSpPr>
          <p:cNvPr id="38" name="Connector 37"/>
          <p:cNvCxnSpPr/>
          <p:nvPr/>
        </p:nvCxnSpPr>
        <p:spPr>
          <a:xfrm>
            <a:off x="6217920" y="3749039"/>
            <a:ext cx="548640" cy="0"/>
          </a:xfrm>
          <a:prstGeom prst="line">
            <a:avLst/>
          </a:prstGeom>
          <a:ln w="19050">
            <a:solidFill>
              <a:srgbClr val="6B7280"/>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6766560" y="3520440"/>
            <a:ext cx="2194560" cy="548640"/>
          </a:xfrm>
          <a:prstGeom prst="rect">
            <a:avLst/>
          </a:prstGeom>
          <a:solidFill>
            <a:srgbClr val="E96B1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S3 silver/
(Iceberg Parquet)</a:t>
            </a:r>
          </a:p>
        </p:txBody>
      </p:sp>
      <p:cxnSp>
        <p:nvCxnSpPr>
          <p:cNvPr id="40" name="Connector 39"/>
          <p:cNvCxnSpPr/>
          <p:nvPr/>
        </p:nvCxnSpPr>
        <p:spPr>
          <a:xfrm>
            <a:off x="8961120" y="3749039"/>
            <a:ext cx="548640" cy="0"/>
          </a:xfrm>
          <a:prstGeom prst="line">
            <a:avLst/>
          </a:prstGeom>
          <a:ln w="19050">
            <a:solidFill>
              <a:srgbClr val="6B7280"/>
            </a:solidFill>
          </a:ln>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9509760" y="3520440"/>
            <a:ext cx="1737360" cy="548640"/>
          </a:xfrm>
          <a:prstGeom prst="rect">
            <a:avLst/>
          </a:prstGeom>
          <a:solidFill>
            <a:srgbClr val="279A5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Glue Data
Catalog</a:t>
            </a:r>
          </a:p>
        </p:txBody>
      </p:sp>
      <p:sp>
        <p:nvSpPr>
          <p:cNvPr id="42" name="Rectangle 41"/>
          <p:cNvSpPr/>
          <p:nvPr/>
        </p:nvSpPr>
        <p:spPr>
          <a:xfrm>
            <a:off x="1280160" y="4617720"/>
            <a:ext cx="2926080" cy="548640"/>
          </a:xfrm>
          <a:prstGeom prst="rect">
            <a:avLst/>
          </a:prstGeom>
          <a:solidFill>
            <a:srgbClr val="279A5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Glue Data Catalog
(sales_bronze + sales_silver)</a:t>
            </a:r>
          </a:p>
        </p:txBody>
      </p:sp>
      <p:cxnSp>
        <p:nvCxnSpPr>
          <p:cNvPr id="43" name="Connector 42"/>
          <p:cNvCxnSpPr/>
          <p:nvPr/>
        </p:nvCxnSpPr>
        <p:spPr>
          <a:xfrm>
            <a:off x="4206240" y="4892040"/>
            <a:ext cx="548640" cy="0"/>
          </a:xfrm>
          <a:prstGeom prst="line">
            <a:avLst/>
          </a:prstGeom>
          <a:ln w="19050">
            <a:solidFill>
              <a:srgbClr val="6B7280"/>
            </a:solidFill>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4754880" y="4617720"/>
            <a:ext cx="2743200" cy="548640"/>
          </a:xfrm>
          <a:prstGeom prst="rect">
            <a:avLst/>
          </a:prstGeom>
          <a:solidFill>
            <a:srgbClr val="00AA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Amazon Athena
Engine v3 Workgroup</a:t>
            </a:r>
          </a:p>
        </p:txBody>
      </p:sp>
      <p:cxnSp>
        <p:nvCxnSpPr>
          <p:cNvPr id="45" name="Connector 44"/>
          <p:cNvCxnSpPr/>
          <p:nvPr/>
        </p:nvCxnSpPr>
        <p:spPr>
          <a:xfrm>
            <a:off x="7498079" y="4892040"/>
            <a:ext cx="548641" cy="0"/>
          </a:xfrm>
          <a:prstGeom prst="line">
            <a:avLst/>
          </a:prstGeom>
          <a:ln w="19050">
            <a:solidFill>
              <a:srgbClr val="6B7280"/>
            </a:solidFill>
          </a:ln>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8046720" y="4617720"/>
            <a:ext cx="2194560" cy="54864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Named Queries
+ Cost Control</a:t>
            </a:r>
          </a:p>
        </p:txBody>
      </p:sp>
      <p:sp>
        <p:nvSpPr>
          <p:cNvPr id="47" name="Rectangle 46"/>
          <p:cNvSpPr/>
          <p:nvPr/>
        </p:nvSpPr>
        <p:spPr>
          <a:xfrm>
            <a:off x="137160" y="6035040"/>
            <a:ext cx="11914632" cy="5029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65760" y="6099048"/>
            <a:ext cx="2286000" cy="347472"/>
          </a:xfrm>
          <a:prstGeom prst="rect">
            <a:avLst/>
          </a:prstGeom>
          <a:noFill/>
        </p:spPr>
        <p:txBody>
          <a:bodyPr wrap="square">
            <a:spAutoFit/>
          </a:bodyPr>
          <a:lstStyle/>
          <a:p>
            <a:pPr algn="l"/>
            <a:r>
              <a:rPr sz="1100" b="0">
                <a:solidFill>
                  <a:srgbClr val="006CA9"/>
                </a:solidFill>
                <a:latin typeface="Calibri"/>
              </a:rPr>
              <a:t>■ ECS Fargate Services</a:t>
            </a:r>
          </a:p>
        </p:txBody>
      </p:sp>
      <p:sp>
        <p:nvSpPr>
          <p:cNvPr id="49" name="TextBox 48"/>
          <p:cNvSpPr txBox="1"/>
          <p:nvPr/>
        </p:nvSpPr>
        <p:spPr>
          <a:xfrm>
            <a:off x="2743200" y="6099048"/>
            <a:ext cx="1828800" cy="347472"/>
          </a:xfrm>
          <a:prstGeom prst="rect">
            <a:avLst/>
          </a:prstGeom>
          <a:noFill/>
        </p:spPr>
        <p:txBody>
          <a:bodyPr wrap="square">
            <a:spAutoFit/>
          </a:bodyPr>
          <a:lstStyle/>
          <a:p>
            <a:pPr algn="l"/>
            <a:r>
              <a:rPr sz="1100" b="0">
                <a:solidFill>
                  <a:srgbClr val="E86A1A"/>
                </a:solidFill>
                <a:latin typeface="Calibri"/>
              </a:rPr>
              <a:t>■ S3 Data Lake</a:t>
            </a:r>
          </a:p>
        </p:txBody>
      </p:sp>
      <p:sp>
        <p:nvSpPr>
          <p:cNvPr id="50" name="TextBox 49"/>
          <p:cNvSpPr txBox="1"/>
          <p:nvPr/>
        </p:nvSpPr>
        <p:spPr>
          <a:xfrm>
            <a:off x="4572000" y="6099048"/>
            <a:ext cx="2286000" cy="347472"/>
          </a:xfrm>
          <a:prstGeom prst="rect">
            <a:avLst/>
          </a:prstGeom>
          <a:noFill/>
        </p:spPr>
        <p:txBody>
          <a:bodyPr wrap="square">
            <a:spAutoFit/>
          </a:bodyPr>
          <a:lstStyle/>
          <a:p>
            <a:pPr algn="l"/>
            <a:r>
              <a:rPr sz="1100" b="0">
                <a:solidFill>
                  <a:srgbClr val="279A5E"/>
                </a:solidFill>
                <a:latin typeface="Calibri"/>
              </a:rPr>
              <a:t>■ AWS Managed Services</a:t>
            </a:r>
          </a:p>
        </p:txBody>
      </p:sp>
      <p:sp>
        <p:nvSpPr>
          <p:cNvPr id="51" name="TextBox 50"/>
          <p:cNvSpPr txBox="1"/>
          <p:nvPr/>
        </p:nvSpPr>
        <p:spPr>
          <a:xfrm>
            <a:off x="6858000" y="6099048"/>
            <a:ext cx="1828800" cy="347472"/>
          </a:xfrm>
          <a:prstGeom prst="rect">
            <a:avLst/>
          </a:prstGeom>
          <a:noFill/>
        </p:spPr>
        <p:txBody>
          <a:bodyPr wrap="square">
            <a:spAutoFit/>
          </a:bodyPr>
          <a:lstStyle/>
          <a:p>
            <a:pPr algn="l"/>
            <a:r>
              <a:rPr sz="1100" b="0">
                <a:solidFill>
                  <a:srgbClr val="00AAD4"/>
                </a:solidFill>
                <a:latin typeface="Calibri"/>
              </a:rPr>
              <a:t>■ Orchestration</a:t>
            </a:r>
          </a:p>
        </p:txBody>
      </p:sp>
      <p:sp>
        <p:nvSpPr>
          <p:cNvPr id="52" name="TextBox 51"/>
          <p:cNvSpPr txBox="1"/>
          <p:nvPr/>
        </p:nvSpPr>
        <p:spPr>
          <a:xfrm>
            <a:off x="8686800" y="6099048"/>
            <a:ext cx="3200400" cy="347472"/>
          </a:xfrm>
          <a:prstGeom prst="rect">
            <a:avLst/>
          </a:prstGeom>
          <a:noFill/>
        </p:spPr>
        <p:txBody>
          <a:bodyPr wrap="square">
            <a:spAutoFit/>
          </a:bodyPr>
          <a:lstStyle/>
          <a:p>
            <a:pPr algn="l"/>
            <a:r>
              <a:rPr sz="1100" b="0">
                <a:solidFill>
                  <a:srgbClr val="6B7280"/>
                </a:solidFill>
                <a:latin typeface="Calibri"/>
              </a:rPr>
              <a:t>Python shared package: economics_pipeline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57432" cy="548640"/>
          </a:xfrm>
          <a:prstGeom prst="rect">
            <a:avLst/>
          </a:prstGeom>
          <a:noFill/>
        </p:spPr>
        <p:txBody>
          <a:bodyPr wrap="square">
            <a:spAutoFit/>
          </a:bodyPr>
          <a:lstStyle/>
          <a:p>
            <a:pPr algn="l"/>
            <a:r>
              <a:rPr sz="2800" b="1">
                <a:solidFill>
                  <a:srgbClr val="FFFFFF"/>
                </a:solidFill>
                <a:latin typeface="Calibri"/>
              </a:rPr>
              <a:t>Step 1 — Acquire &amp; Land</a:t>
            </a:r>
          </a:p>
        </p:txBody>
      </p:sp>
      <p:sp>
        <p:nvSpPr>
          <p:cNvPr id="5" name="TextBox 4"/>
          <p:cNvSpPr txBox="1"/>
          <p:nvPr/>
        </p:nvSpPr>
        <p:spPr>
          <a:xfrm>
            <a:off x="365760" y="594360"/>
            <a:ext cx="11457432" cy="347472"/>
          </a:xfrm>
          <a:prstGeom prst="rect">
            <a:avLst/>
          </a:prstGeom>
          <a:noFill/>
        </p:spPr>
        <p:txBody>
          <a:bodyPr wrap="square">
            <a:spAutoFit/>
          </a:bodyPr>
          <a:lstStyle/>
          <a:p>
            <a:pPr algn="l"/>
            <a:r>
              <a:rPr sz="1400" b="0">
                <a:solidFill>
                  <a:srgbClr val="00AAD4"/>
                </a:solidFill>
                <a:latin typeface="Calibri"/>
              </a:rPr>
              <a:t>Batch trigger · Idempotent · ETag-based change detection</a:t>
            </a:r>
          </a:p>
        </p:txBody>
      </p:sp>
      <p:sp>
        <p:nvSpPr>
          <p:cNvPr id="6" name="Rectangle 5"/>
          <p:cNvSpPr/>
          <p:nvPr/>
        </p:nvSpPr>
        <p:spPr>
          <a:xfrm>
            <a:off x="0" y="1005840"/>
            <a:ext cx="12188952" cy="36576"/>
          </a:xfrm>
          <a:prstGeom prst="rect">
            <a:avLst/>
          </a:prstGeom>
          <a:solidFill>
            <a:srgbClr val="E8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188720"/>
            <a:ext cx="2926080" cy="640080"/>
          </a:xfrm>
          <a:prstGeom prst="rect">
            <a:avLst/>
          </a:prstGeom>
          <a:solidFill>
            <a:srgbClr val="00AA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EventBridge Scheduler
cron(0 9 * * ? *)</a:t>
            </a:r>
          </a:p>
        </p:txBody>
      </p:sp>
      <p:cxnSp>
        <p:nvCxnSpPr>
          <p:cNvPr id="8" name="Connector 7"/>
          <p:cNvCxnSpPr/>
          <p:nvPr/>
        </p:nvCxnSpPr>
        <p:spPr>
          <a:xfrm>
            <a:off x="1828800" y="1828800"/>
            <a:ext cx="0" cy="365760"/>
          </a:xfrm>
          <a:prstGeom prst="line">
            <a:avLst/>
          </a:prstGeom>
          <a:ln w="19050">
            <a:solidFill>
              <a:srgbClr val="6B7280"/>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365760" y="2194560"/>
            <a:ext cx="2926080" cy="594360"/>
          </a:xfrm>
          <a:prstGeom prst="rect">
            <a:avLst/>
          </a:prstGeom>
          <a:solidFill>
            <a:srgbClr val="006CA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ECS Fargate
Downloader</a:t>
            </a:r>
          </a:p>
        </p:txBody>
      </p:sp>
      <p:cxnSp>
        <p:nvCxnSpPr>
          <p:cNvPr id="10" name="Connector 9"/>
          <p:cNvCxnSpPr/>
          <p:nvPr/>
        </p:nvCxnSpPr>
        <p:spPr>
          <a:xfrm>
            <a:off x="914400" y="2788920"/>
            <a:ext cx="0" cy="320040"/>
          </a:xfrm>
          <a:prstGeom prst="line">
            <a:avLst/>
          </a:prstGeom>
          <a:ln w="19050">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560320" y="2788920"/>
            <a:ext cx="0" cy="320040"/>
          </a:xfrm>
          <a:prstGeom prst="line">
            <a:avLst/>
          </a:prstGeom>
          <a:ln w="19050">
            <a:solidFill>
              <a:srgbClr val="6B7280"/>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65760" y="3108960"/>
            <a:ext cx="1737360" cy="548640"/>
          </a:xfrm>
          <a:prstGeom prst="rect">
            <a:avLst/>
          </a:prstGeom>
          <a:solidFill>
            <a:srgbClr val="E86A1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FFFFFF"/>
                </a:solidFill>
                <a:latin typeface="Calibri"/>
              </a:rPr>
              <a:t>S3  archive/dataset.zip</a:t>
            </a:r>
          </a:p>
        </p:txBody>
      </p:sp>
      <p:sp>
        <p:nvSpPr>
          <p:cNvPr id="13" name="Rectangle 12"/>
          <p:cNvSpPr/>
          <p:nvPr/>
        </p:nvSpPr>
        <p:spPr>
          <a:xfrm>
            <a:off x="2286000" y="3108960"/>
            <a:ext cx="1737360" cy="548640"/>
          </a:xfrm>
          <a:prstGeom prst="rect">
            <a:avLst/>
          </a:prstGeom>
          <a:solidFill>
            <a:srgbClr val="E86A1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FFFFFF"/>
                </a:solidFill>
                <a:latin typeface="Calibri"/>
              </a:rPr>
              <a:t>S3  landing/dataset.csv</a:t>
            </a:r>
          </a:p>
        </p:txBody>
      </p:sp>
      <p:cxnSp>
        <p:nvCxnSpPr>
          <p:cNvPr id="14" name="Connector 13"/>
          <p:cNvCxnSpPr/>
          <p:nvPr/>
        </p:nvCxnSpPr>
        <p:spPr>
          <a:xfrm>
            <a:off x="1828800" y="3657600"/>
            <a:ext cx="0" cy="320039"/>
          </a:xfrm>
          <a:prstGeom prst="line">
            <a:avLst/>
          </a:prstGeom>
          <a:ln w="19050">
            <a:solidFill>
              <a:srgbClr val="6B7280"/>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365760" y="3977639"/>
            <a:ext cx="2926080" cy="502920"/>
          </a:xfrm>
          <a:prstGeom prst="rect">
            <a:avLst/>
          </a:prstGeom>
          <a:solidFill>
            <a:srgbClr val="279A5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IngestionState  ✓  saved</a:t>
            </a:r>
          </a:p>
        </p:txBody>
      </p:sp>
      <p:sp>
        <p:nvSpPr>
          <p:cNvPr id="16" name="Rectangle 15"/>
          <p:cNvSpPr/>
          <p:nvPr/>
        </p:nvSpPr>
        <p:spPr>
          <a:xfrm>
            <a:off x="3657600" y="1188720"/>
            <a:ext cx="8138160" cy="36576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KEY POINTS</a:t>
            </a:r>
          </a:p>
        </p:txBody>
      </p:sp>
      <p:sp>
        <p:nvSpPr>
          <p:cNvPr id="17" name="Rectangle 16"/>
          <p:cNvSpPr/>
          <p:nvPr/>
        </p:nvSpPr>
        <p:spPr>
          <a:xfrm>
            <a:off x="3657600" y="1737360"/>
            <a:ext cx="8138160" cy="1005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40480" y="1801368"/>
            <a:ext cx="7772400" cy="301752"/>
          </a:xfrm>
          <a:prstGeom prst="rect">
            <a:avLst/>
          </a:prstGeom>
          <a:noFill/>
        </p:spPr>
        <p:txBody>
          <a:bodyPr wrap="square">
            <a:spAutoFit/>
          </a:bodyPr>
          <a:lstStyle/>
          <a:p>
            <a:pPr algn="l"/>
            <a:r>
              <a:rPr sz="1400" b="1">
                <a:solidFill>
                  <a:srgbClr val="002B5C"/>
                </a:solidFill>
                <a:latin typeface="Calibri"/>
              </a:rPr>
              <a:t>ETag detection</a:t>
            </a:r>
          </a:p>
        </p:txBody>
      </p:sp>
      <p:sp>
        <p:nvSpPr>
          <p:cNvPr id="19" name="TextBox 18"/>
          <p:cNvSpPr txBox="1"/>
          <p:nvPr/>
        </p:nvSpPr>
        <p:spPr>
          <a:xfrm>
            <a:off x="3840480" y="2084831"/>
            <a:ext cx="7772400" cy="594360"/>
          </a:xfrm>
          <a:prstGeom prst="rect">
            <a:avLst/>
          </a:prstGeom>
          <a:noFill/>
        </p:spPr>
        <p:txBody>
          <a:bodyPr wrap="square">
            <a:spAutoFit/>
          </a:bodyPr>
          <a:lstStyle/>
          <a:p>
            <a:pPr algn="l"/>
            <a:r>
              <a:rPr sz="1200" b="0">
                <a:solidFill>
                  <a:srgbClr val="2D323B"/>
                </a:solidFill>
                <a:latin typeface="Calibri"/>
              </a:rPr>
              <a:t>HTTP HEAD before every download. If ETag matches last run → skip entirely.
Prevents redundant downloads when provider hasn't updated the file.</a:t>
            </a:r>
          </a:p>
        </p:txBody>
      </p:sp>
      <p:sp>
        <p:nvSpPr>
          <p:cNvPr id="20" name="Rectangle 19"/>
          <p:cNvSpPr/>
          <p:nvPr/>
        </p:nvSpPr>
        <p:spPr>
          <a:xfrm>
            <a:off x="3657600" y="2852928"/>
            <a:ext cx="8138160" cy="1005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40480" y="2916936"/>
            <a:ext cx="7772400" cy="301752"/>
          </a:xfrm>
          <a:prstGeom prst="rect">
            <a:avLst/>
          </a:prstGeom>
          <a:noFill/>
        </p:spPr>
        <p:txBody>
          <a:bodyPr wrap="square">
            <a:spAutoFit/>
          </a:bodyPr>
          <a:lstStyle/>
          <a:p>
            <a:pPr algn="l"/>
            <a:r>
              <a:rPr sz="1400" b="1">
                <a:solidFill>
                  <a:srgbClr val="002B5C"/>
                </a:solidFill>
                <a:latin typeface="Calibri"/>
              </a:rPr>
              <a:t>Idempotent state</a:t>
            </a:r>
          </a:p>
        </p:txBody>
      </p:sp>
      <p:sp>
        <p:nvSpPr>
          <p:cNvPr id="22" name="TextBox 21"/>
          <p:cNvSpPr txBox="1"/>
          <p:nvPr/>
        </p:nvSpPr>
        <p:spPr>
          <a:xfrm>
            <a:off x="3840480" y="3200400"/>
            <a:ext cx="7772400" cy="594360"/>
          </a:xfrm>
          <a:prstGeom prst="rect">
            <a:avLst/>
          </a:prstGeom>
          <a:noFill/>
        </p:spPr>
        <p:txBody>
          <a:bodyPr wrap="square">
            <a:spAutoFit/>
          </a:bodyPr>
          <a:lstStyle/>
          <a:p>
            <a:pPr algn="l"/>
            <a:r>
              <a:rPr sz="1200" b="0">
                <a:solidFill>
                  <a:srgbClr val="2D323B"/>
                </a:solidFill>
                <a:latin typeface="Calibri"/>
              </a:rPr>
              <a:t>IngestionStateManager persists {url, etag, checksum_md5, status} to S3.
Status: 'extracted' → 'produced'. Interrupted run resumes safely.</a:t>
            </a:r>
          </a:p>
        </p:txBody>
      </p:sp>
      <p:sp>
        <p:nvSpPr>
          <p:cNvPr id="23" name="Rectangle 22"/>
          <p:cNvSpPr/>
          <p:nvPr/>
        </p:nvSpPr>
        <p:spPr>
          <a:xfrm>
            <a:off x="3657600" y="3968496"/>
            <a:ext cx="8138160" cy="1005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40480" y="4032504"/>
            <a:ext cx="7772400" cy="301752"/>
          </a:xfrm>
          <a:prstGeom prst="rect">
            <a:avLst/>
          </a:prstGeom>
          <a:noFill/>
        </p:spPr>
        <p:txBody>
          <a:bodyPr wrap="square">
            <a:spAutoFit/>
          </a:bodyPr>
          <a:lstStyle/>
          <a:p>
            <a:pPr algn="l"/>
            <a:r>
              <a:rPr sz="1400" b="1">
                <a:solidFill>
                  <a:srgbClr val="002B5C"/>
                </a:solidFill>
                <a:latin typeface="Calibri"/>
              </a:rPr>
              <a:t>archive/ vs landing/</a:t>
            </a:r>
          </a:p>
        </p:txBody>
      </p:sp>
      <p:sp>
        <p:nvSpPr>
          <p:cNvPr id="25" name="TextBox 24"/>
          <p:cNvSpPr txBox="1"/>
          <p:nvPr/>
        </p:nvSpPr>
        <p:spPr>
          <a:xfrm>
            <a:off x="3840480" y="4315968"/>
            <a:ext cx="7772400" cy="594360"/>
          </a:xfrm>
          <a:prstGeom prst="rect">
            <a:avLst/>
          </a:prstGeom>
          <a:noFill/>
        </p:spPr>
        <p:txBody>
          <a:bodyPr wrap="square">
            <a:spAutoFit/>
          </a:bodyPr>
          <a:lstStyle/>
          <a:p>
            <a:pPr algn="l"/>
            <a:r>
              <a:rPr sz="1200" b="0">
                <a:solidFill>
                  <a:srgbClr val="2D323B"/>
                </a:solidFill>
                <a:latin typeface="Calibri"/>
              </a:rPr>
              <a:t>archive/ = original zip, never modified (audit trail).
landing/ = extracted CSV, ready for the producer.</a:t>
            </a:r>
          </a:p>
        </p:txBody>
      </p:sp>
      <p:sp>
        <p:nvSpPr>
          <p:cNvPr id="26" name="Rectangle 25"/>
          <p:cNvSpPr/>
          <p:nvPr/>
        </p:nvSpPr>
        <p:spPr>
          <a:xfrm>
            <a:off x="3657600" y="5084064"/>
            <a:ext cx="8138160" cy="1005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40480" y="5148072"/>
            <a:ext cx="7772400" cy="301752"/>
          </a:xfrm>
          <a:prstGeom prst="rect">
            <a:avLst/>
          </a:prstGeom>
          <a:noFill/>
        </p:spPr>
        <p:txBody>
          <a:bodyPr wrap="square">
            <a:spAutoFit/>
          </a:bodyPr>
          <a:lstStyle/>
          <a:p>
            <a:pPr algn="l"/>
            <a:r>
              <a:rPr sz="1400" b="1">
                <a:solidFill>
                  <a:srgbClr val="002B5C"/>
                </a:solidFill>
                <a:latin typeface="Calibri"/>
              </a:rPr>
              <a:t>Retry logic</a:t>
            </a:r>
          </a:p>
        </p:txBody>
      </p:sp>
      <p:sp>
        <p:nvSpPr>
          <p:cNvPr id="28" name="TextBox 27"/>
          <p:cNvSpPr txBox="1"/>
          <p:nvPr/>
        </p:nvSpPr>
        <p:spPr>
          <a:xfrm>
            <a:off x="3840480" y="5431536"/>
            <a:ext cx="7772400" cy="594360"/>
          </a:xfrm>
          <a:prstGeom prst="rect">
            <a:avLst/>
          </a:prstGeom>
          <a:noFill/>
        </p:spPr>
        <p:txBody>
          <a:bodyPr wrap="square">
            <a:spAutoFit/>
          </a:bodyPr>
          <a:lstStyle/>
          <a:p>
            <a:pPr algn="l"/>
            <a:r>
              <a:rPr sz="1200" b="0">
                <a:solidFill>
                  <a:srgbClr val="2D323B"/>
                </a:solidFill>
                <a:latin typeface="Calibri"/>
              </a:rPr>
              <a:t>@network_retry: 3 attempts, exponential 1→8s backoff.
Raises DownloadError with original cause on final failure.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57432" cy="548640"/>
          </a:xfrm>
          <a:prstGeom prst="rect">
            <a:avLst/>
          </a:prstGeom>
          <a:noFill/>
        </p:spPr>
        <p:txBody>
          <a:bodyPr wrap="square">
            <a:spAutoFit/>
          </a:bodyPr>
          <a:lstStyle/>
          <a:p>
            <a:pPr algn="l"/>
            <a:r>
              <a:rPr sz="2800" b="1">
                <a:solidFill>
                  <a:srgbClr val="FFFFFF"/>
                </a:solidFill>
                <a:latin typeface="Calibri"/>
              </a:rPr>
              <a:t>Step 2 — Stream into Bronze</a:t>
            </a:r>
          </a:p>
        </p:txBody>
      </p:sp>
      <p:sp>
        <p:nvSpPr>
          <p:cNvPr id="5" name="TextBox 4"/>
          <p:cNvSpPr txBox="1"/>
          <p:nvPr/>
        </p:nvSpPr>
        <p:spPr>
          <a:xfrm>
            <a:off x="365760" y="594360"/>
            <a:ext cx="11457432" cy="347472"/>
          </a:xfrm>
          <a:prstGeom prst="rect">
            <a:avLst/>
          </a:prstGeom>
          <a:noFill/>
        </p:spPr>
        <p:txBody>
          <a:bodyPr wrap="square">
            <a:spAutoFit/>
          </a:bodyPr>
          <a:lstStyle/>
          <a:p>
            <a:pPr algn="l"/>
            <a:r>
              <a:rPr sz="1400" b="0">
                <a:solidFill>
                  <a:srgbClr val="00AAD4"/>
                </a:solidFill>
                <a:latin typeface="Calibri"/>
              </a:rPr>
              <a:t>CSV → Kafka/MSK → Iceberg table registered in Glue</a:t>
            </a:r>
          </a:p>
        </p:txBody>
      </p:sp>
      <p:sp>
        <p:nvSpPr>
          <p:cNvPr id="6" name="Rectangle 5"/>
          <p:cNvSpPr/>
          <p:nvPr/>
        </p:nvSpPr>
        <p:spPr>
          <a:xfrm>
            <a:off x="0" y="1005840"/>
            <a:ext cx="12188952" cy="36576"/>
          </a:xfrm>
          <a:prstGeom prst="rect">
            <a:avLst/>
          </a:prstGeom>
          <a:solidFill>
            <a:srgbClr val="E8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188720"/>
            <a:ext cx="2377440" cy="594360"/>
          </a:xfrm>
          <a:prstGeom prst="rect">
            <a:avLst/>
          </a:prstGeom>
          <a:solidFill>
            <a:srgbClr val="E86A1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S3 landing/
dataset.csv</a:t>
            </a:r>
          </a:p>
        </p:txBody>
      </p:sp>
      <p:cxnSp>
        <p:nvCxnSpPr>
          <p:cNvPr id="8" name="Connector 7"/>
          <p:cNvCxnSpPr/>
          <p:nvPr/>
        </p:nvCxnSpPr>
        <p:spPr>
          <a:xfrm>
            <a:off x="1554480" y="1783080"/>
            <a:ext cx="0" cy="365760"/>
          </a:xfrm>
          <a:prstGeom prst="line">
            <a:avLst/>
          </a:prstGeom>
          <a:ln w="19050">
            <a:solidFill>
              <a:srgbClr val="6B7280"/>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365760" y="2148840"/>
            <a:ext cx="2377440" cy="594360"/>
          </a:xfrm>
          <a:prstGeom prst="rect">
            <a:avLst/>
          </a:prstGeom>
          <a:solidFill>
            <a:srgbClr val="006CA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Producer (ECS)
csv.DictReader row by row</a:t>
            </a:r>
          </a:p>
        </p:txBody>
      </p:sp>
      <p:cxnSp>
        <p:nvCxnSpPr>
          <p:cNvPr id="10" name="Connector 9"/>
          <p:cNvCxnSpPr/>
          <p:nvPr/>
        </p:nvCxnSpPr>
        <p:spPr>
          <a:xfrm>
            <a:off x="1554480" y="2743200"/>
            <a:ext cx="0" cy="320040"/>
          </a:xfrm>
          <a:prstGeom prst="line">
            <a:avLst/>
          </a:prstGeom>
          <a:ln w="19050">
            <a:solidFill>
              <a:srgbClr val="6B7280"/>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365760" y="3063240"/>
            <a:ext cx="2377440" cy="59436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Amazon MSK
key = order_id</a:t>
            </a:r>
          </a:p>
        </p:txBody>
      </p:sp>
      <p:cxnSp>
        <p:nvCxnSpPr>
          <p:cNvPr id="12" name="Connector 11"/>
          <p:cNvCxnSpPr/>
          <p:nvPr/>
        </p:nvCxnSpPr>
        <p:spPr>
          <a:xfrm>
            <a:off x="1554480" y="3657600"/>
            <a:ext cx="0" cy="320039"/>
          </a:xfrm>
          <a:prstGeom prst="line">
            <a:avLst/>
          </a:prstGeom>
          <a:ln w="19050">
            <a:solidFill>
              <a:srgbClr val="6B7280"/>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365760" y="3977639"/>
            <a:ext cx="2377440" cy="594360"/>
          </a:xfrm>
          <a:prstGeom prst="rect">
            <a:avLst/>
          </a:prstGeom>
          <a:solidFill>
            <a:srgbClr val="006CA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Bronze Consumer (ECS)
buffer → flush every 500</a:t>
            </a:r>
          </a:p>
        </p:txBody>
      </p:sp>
      <p:cxnSp>
        <p:nvCxnSpPr>
          <p:cNvPr id="14" name="Connector 13"/>
          <p:cNvCxnSpPr/>
          <p:nvPr/>
        </p:nvCxnSpPr>
        <p:spPr>
          <a:xfrm>
            <a:off x="1554480" y="4572000"/>
            <a:ext cx="0" cy="320040"/>
          </a:xfrm>
          <a:prstGeom prst="line">
            <a:avLst/>
          </a:prstGeom>
          <a:ln w="19050">
            <a:solidFill>
              <a:srgbClr val="6B7280"/>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365760" y="4892040"/>
            <a:ext cx="2377440" cy="594360"/>
          </a:xfrm>
          <a:prstGeom prst="rect">
            <a:avLst/>
          </a:prstGeom>
          <a:solidFill>
            <a:srgbClr val="E86A1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S3 bronze/ (Iceberg)
+ Glue Data Catalog</a:t>
            </a:r>
          </a:p>
        </p:txBody>
      </p:sp>
      <p:sp>
        <p:nvSpPr>
          <p:cNvPr id="16" name="Rectangle 15"/>
          <p:cNvSpPr/>
          <p:nvPr/>
        </p:nvSpPr>
        <p:spPr>
          <a:xfrm>
            <a:off x="3108960" y="1188720"/>
            <a:ext cx="8686800" cy="36576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KEY POINTS</a:t>
            </a:r>
          </a:p>
        </p:txBody>
      </p:sp>
      <p:sp>
        <p:nvSpPr>
          <p:cNvPr id="17" name="Rectangle 16"/>
          <p:cNvSpPr/>
          <p:nvPr/>
        </p:nvSpPr>
        <p:spPr>
          <a:xfrm>
            <a:off x="3108960" y="1737360"/>
            <a:ext cx="8686800" cy="1005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91840" y="1801368"/>
            <a:ext cx="8321040" cy="301752"/>
          </a:xfrm>
          <a:prstGeom prst="rect">
            <a:avLst/>
          </a:prstGeom>
          <a:noFill/>
        </p:spPr>
        <p:txBody>
          <a:bodyPr wrap="square">
            <a:spAutoFit/>
          </a:bodyPr>
          <a:lstStyle/>
          <a:p>
            <a:pPr algn="l"/>
            <a:r>
              <a:rPr sz="1400" b="1">
                <a:solidFill>
                  <a:srgbClr val="002B5C"/>
                </a:solidFill>
                <a:latin typeface="Calibri"/>
              </a:rPr>
              <a:t>Kafka keyed by order_id</a:t>
            </a:r>
          </a:p>
        </p:txBody>
      </p:sp>
      <p:sp>
        <p:nvSpPr>
          <p:cNvPr id="19" name="TextBox 18"/>
          <p:cNvSpPr txBox="1"/>
          <p:nvPr/>
        </p:nvSpPr>
        <p:spPr>
          <a:xfrm>
            <a:off x="3291840" y="2084831"/>
            <a:ext cx="8321040" cy="594360"/>
          </a:xfrm>
          <a:prstGeom prst="rect">
            <a:avLst/>
          </a:prstGeom>
          <a:noFill/>
        </p:spPr>
        <p:txBody>
          <a:bodyPr wrap="square">
            <a:spAutoFit/>
          </a:bodyPr>
          <a:lstStyle/>
          <a:p>
            <a:pPr algn="l"/>
            <a:r>
              <a:rPr sz="1200" b="0">
                <a:solidFill>
                  <a:srgbClr val="2D323B"/>
                </a:solidFill>
                <a:latin typeface="Calibri"/>
              </a:rPr>
              <a:t>All messages for an order go to the same partition.
Enables ordered processing and efficient partition-level queries.</a:t>
            </a:r>
          </a:p>
        </p:txBody>
      </p:sp>
      <p:sp>
        <p:nvSpPr>
          <p:cNvPr id="20" name="Rectangle 19"/>
          <p:cNvSpPr/>
          <p:nvPr/>
        </p:nvSpPr>
        <p:spPr>
          <a:xfrm>
            <a:off x="3108960" y="2852928"/>
            <a:ext cx="8686800" cy="1005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91840" y="2916936"/>
            <a:ext cx="8321040" cy="301752"/>
          </a:xfrm>
          <a:prstGeom prst="rect">
            <a:avLst/>
          </a:prstGeom>
          <a:noFill/>
        </p:spPr>
        <p:txBody>
          <a:bodyPr wrap="square">
            <a:spAutoFit/>
          </a:bodyPr>
          <a:lstStyle/>
          <a:p>
            <a:pPr algn="l"/>
            <a:r>
              <a:rPr sz="1400" b="1">
                <a:solidFill>
                  <a:srgbClr val="002B5C"/>
                </a:solidFill>
                <a:latin typeface="Calibri"/>
              </a:rPr>
              <a:t>At-least-once delivery</a:t>
            </a:r>
          </a:p>
        </p:txBody>
      </p:sp>
      <p:sp>
        <p:nvSpPr>
          <p:cNvPr id="22" name="TextBox 21"/>
          <p:cNvSpPr txBox="1"/>
          <p:nvPr/>
        </p:nvSpPr>
        <p:spPr>
          <a:xfrm>
            <a:off x="3291840" y="3200400"/>
            <a:ext cx="8321040" cy="594360"/>
          </a:xfrm>
          <a:prstGeom prst="rect">
            <a:avLst/>
          </a:prstGeom>
          <a:noFill/>
        </p:spPr>
        <p:txBody>
          <a:bodyPr wrap="square">
            <a:spAutoFit/>
          </a:bodyPr>
          <a:lstStyle/>
          <a:p>
            <a:pPr algn="l"/>
            <a:r>
              <a:rPr sz="1200" b="0">
                <a:solidFill>
                  <a:srgbClr val="2D323B"/>
                </a:solidFill>
                <a:latin typeface="Calibri"/>
              </a:rPr>
              <a:t>enable_auto_commit=False. Offset committed only AFTER successful write.
Guarantees no data loss — duplicates absorbed by silver dedup.</a:t>
            </a:r>
          </a:p>
        </p:txBody>
      </p:sp>
      <p:sp>
        <p:nvSpPr>
          <p:cNvPr id="23" name="Rectangle 22"/>
          <p:cNvSpPr/>
          <p:nvPr/>
        </p:nvSpPr>
        <p:spPr>
          <a:xfrm>
            <a:off x="3108960" y="3968496"/>
            <a:ext cx="8686800" cy="1005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91840" y="4032504"/>
            <a:ext cx="8321040" cy="301752"/>
          </a:xfrm>
          <a:prstGeom prst="rect">
            <a:avLst/>
          </a:prstGeom>
          <a:noFill/>
        </p:spPr>
        <p:txBody>
          <a:bodyPr wrap="square">
            <a:spAutoFit/>
          </a:bodyPr>
          <a:lstStyle/>
          <a:p>
            <a:pPr algn="l"/>
            <a:r>
              <a:rPr sz="1400" b="1">
                <a:solidFill>
                  <a:srgbClr val="002B5C"/>
                </a:solidFill>
                <a:latin typeface="Calibri"/>
              </a:rPr>
              <a:t>Bronze record = raw + metadata</a:t>
            </a:r>
          </a:p>
        </p:txBody>
      </p:sp>
      <p:sp>
        <p:nvSpPr>
          <p:cNvPr id="25" name="TextBox 24"/>
          <p:cNvSpPr txBox="1"/>
          <p:nvPr/>
        </p:nvSpPr>
        <p:spPr>
          <a:xfrm>
            <a:off x="3291840" y="4315968"/>
            <a:ext cx="8321040" cy="594360"/>
          </a:xfrm>
          <a:prstGeom prst="rect">
            <a:avLst/>
          </a:prstGeom>
          <a:noFill/>
        </p:spPr>
        <p:txBody>
          <a:bodyPr wrap="square">
            <a:spAutoFit/>
          </a:bodyPr>
          <a:lstStyle/>
          <a:p>
            <a:pPr algn="l"/>
            <a:r>
              <a:rPr sz="1200" b="0">
                <a:solidFill>
                  <a:srgbClr val="2D323B"/>
                </a:solidFill>
                <a:latin typeface="Calibri"/>
              </a:rPr>
              <a:t>Keeps all source fields + kafka_topic, kafka_partition, kafka_offset,
ingested_at, source_file — full audit trail, never modified.</a:t>
            </a:r>
          </a:p>
        </p:txBody>
      </p:sp>
      <p:sp>
        <p:nvSpPr>
          <p:cNvPr id="26" name="Rectangle 25"/>
          <p:cNvSpPr/>
          <p:nvPr/>
        </p:nvSpPr>
        <p:spPr>
          <a:xfrm>
            <a:off x="3108960" y="5084064"/>
            <a:ext cx="8686800" cy="1005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91840" y="5148072"/>
            <a:ext cx="8321040" cy="301752"/>
          </a:xfrm>
          <a:prstGeom prst="rect">
            <a:avLst/>
          </a:prstGeom>
          <a:noFill/>
        </p:spPr>
        <p:txBody>
          <a:bodyPr wrap="square">
            <a:spAutoFit/>
          </a:bodyPr>
          <a:lstStyle/>
          <a:p>
            <a:pPr algn="l"/>
            <a:r>
              <a:rPr sz="1400" b="1">
                <a:solidFill>
                  <a:srgbClr val="002B5C"/>
                </a:solidFill>
                <a:latin typeface="Calibri"/>
              </a:rPr>
              <a:t>CloudBronzeWriter → PyIceberg</a:t>
            </a:r>
          </a:p>
        </p:txBody>
      </p:sp>
      <p:sp>
        <p:nvSpPr>
          <p:cNvPr id="28" name="TextBox 27"/>
          <p:cNvSpPr txBox="1"/>
          <p:nvPr/>
        </p:nvSpPr>
        <p:spPr>
          <a:xfrm>
            <a:off x="3291840" y="5431536"/>
            <a:ext cx="8321040" cy="594360"/>
          </a:xfrm>
          <a:prstGeom prst="rect">
            <a:avLst/>
          </a:prstGeom>
          <a:noFill/>
        </p:spPr>
        <p:txBody>
          <a:bodyPr wrap="square">
            <a:spAutoFit/>
          </a:bodyPr>
          <a:lstStyle/>
          <a:p>
            <a:pPr algn="l"/>
            <a:r>
              <a:rPr sz="1200" b="0">
                <a:solidFill>
                  <a:srgbClr val="2D323B"/>
                </a:solidFill>
                <a:latin typeface="Calibri"/>
              </a:rPr>
              <a:t>In cloud mode: PyIceberg appends PyArrow batches to S3.
Table auto-created in Glue on first run (format-version 2, zstd).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57432" cy="548640"/>
          </a:xfrm>
          <a:prstGeom prst="rect">
            <a:avLst/>
          </a:prstGeom>
          <a:noFill/>
        </p:spPr>
        <p:txBody>
          <a:bodyPr wrap="square">
            <a:spAutoFit/>
          </a:bodyPr>
          <a:lstStyle/>
          <a:p>
            <a:pPr algn="l"/>
            <a:r>
              <a:rPr sz="2800" b="1">
                <a:solidFill>
                  <a:srgbClr val="FFFFFF"/>
                </a:solidFill>
                <a:latin typeface="Calibri"/>
              </a:rPr>
              <a:t>Step 3 — Transform Bronze → Silver</a:t>
            </a:r>
          </a:p>
        </p:txBody>
      </p:sp>
      <p:sp>
        <p:nvSpPr>
          <p:cNvPr id="5" name="TextBox 4"/>
          <p:cNvSpPr txBox="1"/>
          <p:nvPr/>
        </p:nvSpPr>
        <p:spPr>
          <a:xfrm>
            <a:off x="365760" y="594360"/>
            <a:ext cx="11457432" cy="347472"/>
          </a:xfrm>
          <a:prstGeom prst="rect">
            <a:avLst/>
          </a:prstGeom>
          <a:noFill/>
        </p:spPr>
        <p:txBody>
          <a:bodyPr wrap="square">
            <a:spAutoFit/>
          </a:bodyPr>
          <a:lstStyle/>
          <a:p>
            <a:pPr algn="l"/>
            <a:r>
              <a:rPr sz="1400" b="0">
                <a:solidFill>
                  <a:srgbClr val="00AAD4"/>
                </a:solidFill>
                <a:latin typeface="Calibri"/>
              </a:rPr>
              <a:t>Typed · Deduplicated · Partitioned by year/month</a:t>
            </a:r>
          </a:p>
        </p:txBody>
      </p:sp>
      <p:sp>
        <p:nvSpPr>
          <p:cNvPr id="6" name="Rectangle 5"/>
          <p:cNvSpPr/>
          <p:nvPr/>
        </p:nvSpPr>
        <p:spPr>
          <a:xfrm>
            <a:off x="0" y="1005840"/>
            <a:ext cx="12188952" cy="36576"/>
          </a:xfrm>
          <a:prstGeom prst="rect">
            <a:avLst/>
          </a:prstGeom>
          <a:solidFill>
            <a:srgbClr val="E8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188720"/>
            <a:ext cx="4023360" cy="365760"/>
          </a:xfrm>
          <a:prstGeom prst="rect">
            <a:avLst/>
          </a:prstGeom>
          <a:solidFill>
            <a:srgbClr val="E86A1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BRONZE RECORD</a:t>
            </a:r>
          </a:p>
        </p:txBody>
      </p:sp>
      <p:sp>
        <p:nvSpPr>
          <p:cNvPr id="8" name="Rectangle 7"/>
          <p:cNvSpPr/>
          <p:nvPr/>
        </p:nvSpPr>
        <p:spPr>
          <a:xfrm>
            <a:off x="365760" y="1554480"/>
            <a:ext cx="4023360" cy="26517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645920"/>
            <a:ext cx="3749039" cy="320040"/>
          </a:xfrm>
          <a:prstGeom prst="rect">
            <a:avLst/>
          </a:prstGeom>
          <a:noFill/>
        </p:spPr>
        <p:txBody>
          <a:bodyPr wrap="square">
            <a:spAutoFit/>
          </a:bodyPr>
          <a:lstStyle/>
          <a:p>
            <a:pPr algn="l"/>
            <a:r>
              <a:rPr sz="1100" b="0">
                <a:solidFill>
                  <a:srgbClr val="2D323B"/>
                </a:solidFill>
                <a:latin typeface="Calibri"/>
              </a:rPr>
              <a:t>order_id, region, country, item_type</a:t>
            </a:r>
          </a:p>
        </p:txBody>
      </p:sp>
      <p:sp>
        <p:nvSpPr>
          <p:cNvPr id="10" name="TextBox 9"/>
          <p:cNvSpPr txBox="1"/>
          <p:nvPr/>
        </p:nvSpPr>
        <p:spPr>
          <a:xfrm>
            <a:off x="502920" y="1984248"/>
            <a:ext cx="3749039" cy="320040"/>
          </a:xfrm>
          <a:prstGeom prst="rect">
            <a:avLst/>
          </a:prstGeom>
          <a:noFill/>
        </p:spPr>
        <p:txBody>
          <a:bodyPr wrap="square">
            <a:spAutoFit/>
          </a:bodyPr>
          <a:lstStyle/>
          <a:p>
            <a:pPr algn="l"/>
            <a:r>
              <a:rPr sz="1100" b="0">
                <a:solidFill>
                  <a:srgbClr val="2D323B"/>
                </a:solidFill>
                <a:latin typeface="Calibri"/>
              </a:rPr>
              <a:t>sales_channel, priority</a:t>
            </a:r>
          </a:p>
        </p:txBody>
      </p:sp>
      <p:sp>
        <p:nvSpPr>
          <p:cNvPr id="11" name="TextBox 10"/>
          <p:cNvSpPr txBox="1"/>
          <p:nvPr/>
        </p:nvSpPr>
        <p:spPr>
          <a:xfrm>
            <a:off x="502920" y="2322576"/>
            <a:ext cx="3749039" cy="320040"/>
          </a:xfrm>
          <a:prstGeom prst="rect">
            <a:avLst/>
          </a:prstGeom>
          <a:noFill/>
        </p:spPr>
        <p:txBody>
          <a:bodyPr wrap="square">
            <a:spAutoFit/>
          </a:bodyPr>
          <a:lstStyle/>
          <a:p>
            <a:pPr algn="l"/>
            <a:r>
              <a:rPr sz="1100" b="0">
                <a:solidFill>
                  <a:srgbClr val="2D323B"/>
                </a:solidFill>
                <a:latin typeface="Calibri"/>
              </a:rPr>
              <a:t>order_date, ship_date</a:t>
            </a:r>
          </a:p>
        </p:txBody>
      </p:sp>
      <p:sp>
        <p:nvSpPr>
          <p:cNvPr id="12" name="TextBox 11"/>
          <p:cNvSpPr txBox="1"/>
          <p:nvPr/>
        </p:nvSpPr>
        <p:spPr>
          <a:xfrm>
            <a:off x="502920" y="2660904"/>
            <a:ext cx="3749039" cy="320040"/>
          </a:xfrm>
          <a:prstGeom prst="rect">
            <a:avLst/>
          </a:prstGeom>
          <a:noFill/>
        </p:spPr>
        <p:txBody>
          <a:bodyPr wrap="square">
            <a:spAutoFit/>
          </a:bodyPr>
          <a:lstStyle/>
          <a:p>
            <a:pPr algn="l"/>
            <a:r>
              <a:rPr sz="1100" b="0">
                <a:solidFill>
                  <a:srgbClr val="2D323B"/>
                </a:solidFill>
                <a:latin typeface="Calibri"/>
              </a:rPr>
              <a:t>units_sold, unit_price, unit_cost</a:t>
            </a:r>
          </a:p>
        </p:txBody>
      </p:sp>
      <p:sp>
        <p:nvSpPr>
          <p:cNvPr id="13" name="TextBox 12"/>
          <p:cNvSpPr txBox="1"/>
          <p:nvPr/>
        </p:nvSpPr>
        <p:spPr>
          <a:xfrm>
            <a:off x="502920" y="2999232"/>
            <a:ext cx="3749039" cy="320040"/>
          </a:xfrm>
          <a:prstGeom prst="rect">
            <a:avLst/>
          </a:prstGeom>
          <a:noFill/>
        </p:spPr>
        <p:txBody>
          <a:bodyPr wrap="square">
            <a:spAutoFit/>
          </a:bodyPr>
          <a:lstStyle/>
          <a:p>
            <a:pPr algn="l"/>
            <a:r>
              <a:rPr sz="1100" b="0">
                <a:solidFill>
                  <a:srgbClr val="2D323B"/>
                </a:solidFill>
                <a:latin typeface="Calibri"/>
              </a:rPr>
              <a:t>total_revenue, total_cost, total_profit</a:t>
            </a:r>
          </a:p>
        </p:txBody>
      </p:sp>
      <p:sp>
        <p:nvSpPr>
          <p:cNvPr id="14" name="TextBox 13"/>
          <p:cNvSpPr txBox="1"/>
          <p:nvPr/>
        </p:nvSpPr>
        <p:spPr>
          <a:xfrm>
            <a:off x="502920" y="3337560"/>
            <a:ext cx="3749039" cy="320040"/>
          </a:xfrm>
          <a:prstGeom prst="rect">
            <a:avLst/>
          </a:prstGeom>
          <a:noFill/>
        </p:spPr>
        <p:txBody>
          <a:bodyPr wrap="square">
            <a:spAutoFit/>
          </a:bodyPr>
          <a:lstStyle/>
          <a:p>
            <a:pPr algn="l"/>
            <a:r>
              <a:rPr sz="1100" b="0">
                <a:solidFill>
                  <a:srgbClr val="2D323B"/>
                </a:solidFill>
                <a:latin typeface="Calibri"/>
              </a:rPr>
              <a:t>kafka_topic, kafka_partition, kafka_offset</a:t>
            </a:r>
          </a:p>
        </p:txBody>
      </p:sp>
      <p:sp>
        <p:nvSpPr>
          <p:cNvPr id="15" name="TextBox 14"/>
          <p:cNvSpPr txBox="1"/>
          <p:nvPr/>
        </p:nvSpPr>
        <p:spPr>
          <a:xfrm>
            <a:off x="502920" y="3675887"/>
            <a:ext cx="3749039" cy="320040"/>
          </a:xfrm>
          <a:prstGeom prst="rect">
            <a:avLst/>
          </a:prstGeom>
          <a:noFill/>
        </p:spPr>
        <p:txBody>
          <a:bodyPr wrap="square">
            <a:spAutoFit/>
          </a:bodyPr>
          <a:lstStyle/>
          <a:p>
            <a:pPr algn="l"/>
            <a:r>
              <a:rPr sz="1100" b="0">
                <a:solidFill>
                  <a:srgbClr val="2D323B"/>
                </a:solidFill>
                <a:latin typeface="Calibri"/>
              </a:rPr>
              <a:t>ingested_at, source_file</a:t>
            </a:r>
          </a:p>
        </p:txBody>
      </p:sp>
      <p:cxnSp>
        <p:nvCxnSpPr>
          <p:cNvPr id="16" name="Connector 15"/>
          <p:cNvCxnSpPr/>
          <p:nvPr/>
        </p:nvCxnSpPr>
        <p:spPr>
          <a:xfrm>
            <a:off x="4389120" y="2834640"/>
            <a:ext cx="731520" cy="0"/>
          </a:xfrm>
          <a:prstGeom prst="line">
            <a:avLst/>
          </a:prstGeom>
          <a:ln w="19050">
            <a:solidFill>
              <a:srgbClr val="6B7280"/>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160520" y="2606040"/>
            <a:ext cx="1188720" cy="5029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transform
_to_silver()</a:t>
            </a:r>
          </a:p>
        </p:txBody>
      </p:sp>
      <p:sp>
        <p:nvSpPr>
          <p:cNvPr id="18" name="Rectangle 17"/>
          <p:cNvSpPr/>
          <p:nvPr/>
        </p:nvSpPr>
        <p:spPr>
          <a:xfrm>
            <a:off x="5212080" y="1188720"/>
            <a:ext cx="6583680" cy="365760"/>
          </a:xfrm>
          <a:prstGeom prst="rect">
            <a:avLst/>
          </a:prstGeom>
          <a:solidFill>
            <a:srgbClr val="279A5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SILVER RECORD</a:t>
            </a:r>
          </a:p>
        </p:txBody>
      </p:sp>
      <p:sp>
        <p:nvSpPr>
          <p:cNvPr id="19" name="Rectangle 18"/>
          <p:cNvSpPr/>
          <p:nvPr/>
        </p:nvSpPr>
        <p:spPr>
          <a:xfrm>
            <a:off x="5212080" y="1554480"/>
            <a:ext cx="6583680" cy="26517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49240" y="1645920"/>
            <a:ext cx="6309360" cy="320040"/>
          </a:xfrm>
          <a:prstGeom prst="rect">
            <a:avLst/>
          </a:prstGeom>
          <a:noFill/>
        </p:spPr>
        <p:txBody>
          <a:bodyPr wrap="square">
            <a:spAutoFit/>
          </a:bodyPr>
          <a:lstStyle/>
          <a:p>
            <a:pPr algn="l"/>
            <a:r>
              <a:rPr sz="1100" b="0">
                <a:solidFill>
                  <a:srgbClr val="2D323B"/>
                </a:solidFill>
                <a:latin typeface="Calibri"/>
              </a:rPr>
              <a:t>All business fields carried over</a:t>
            </a:r>
          </a:p>
        </p:txBody>
      </p:sp>
      <p:sp>
        <p:nvSpPr>
          <p:cNvPr id="21" name="TextBox 20"/>
          <p:cNvSpPr txBox="1"/>
          <p:nvPr/>
        </p:nvSpPr>
        <p:spPr>
          <a:xfrm>
            <a:off x="5349240" y="1984248"/>
            <a:ext cx="6309360" cy="320040"/>
          </a:xfrm>
          <a:prstGeom prst="rect">
            <a:avLst/>
          </a:prstGeom>
          <a:noFill/>
        </p:spPr>
        <p:txBody>
          <a:bodyPr wrap="square">
            <a:spAutoFit/>
          </a:bodyPr>
          <a:lstStyle/>
          <a:p>
            <a:pPr algn="l"/>
            <a:r>
              <a:rPr sz="1100" b="1">
                <a:solidFill>
                  <a:srgbClr val="002B5C"/>
                </a:solidFill>
                <a:latin typeface="Calibri"/>
              </a:rPr>
              <a:t>+ order_year, order_month  [partition keys]</a:t>
            </a:r>
          </a:p>
        </p:txBody>
      </p:sp>
      <p:sp>
        <p:nvSpPr>
          <p:cNvPr id="22" name="TextBox 21"/>
          <p:cNvSpPr txBox="1"/>
          <p:nvPr/>
        </p:nvSpPr>
        <p:spPr>
          <a:xfrm>
            <a:off x="5349240" y="2322576"/>
            <a:ext cx="6309360" cy="320040"/>
          </a:xfrm>
          <a:prstGeom prst="rect">
            <a:avLst/>
          </a:prstGeom>
          <a:noFill/>
        </p:spPr>
        <p:txBody>
          <a:bodyPr wrap="square">
            <a:spAutoFit/>
          </a:bodyPr>
          <a:lstStyle/>
          <a:p>
            <a:pPr algn="l"/>
            <a:r>
              <a:rPr sz="1100" b="1">
                <a:solidFill>
                  <a:srgbClr val="002B5C"/>
                </a:solidFill>
                <a:latin typeface="Calibri"/>
              </a:rPr>
              <a:t>+ lead_time_days  [ship - order date]</a:t>
            </a:r>
          </a:p>
        </p:txBody>
      </p:sp>
      <p:sp>
        <p:nvSpPr>
          <p:cNvPr id="23" name="TextBox 22"/>
          <p:cNvSpPr txBox="1"/>
          <p:nvPr/>
        </p:nvSpPr>
        <p:spPr>
          <a:xfrm>
            <a:off x="5349240" y="2660904"/>
            <a:ext cx="6309360" cy="320040"/>
          </a:xfrm>
          <a:prstGeom prst="rect">
            <a:avLst/>
          </a:prstGeom>
          <a:noFill/>
        </p:spPr>
        <p:txBody>
          <a:bodyPr wrap="square">
            <a:spAutoFit/>
          </a:bodyPr>
          <a:lstStyle/>
          <a:p>
            <a:pPr algn="l"/>
            <a:r>
              <a:rPr sz="1100" b="1">
                <a:solidFill>
                  <a:srgbClr val="002B5C"/>
                </a:solidFill>
                <a:latin typeface="Calibri"/>
              </a:rPr>
              <a:t>+ margin_pct  [Decimal(6,2), ROUND_HALF_UP]</a:t>
            </a:r>
          </a:p>
        </p:txBody>
      </p:sp>
      <p:sp>
        <p:nvSpPr>
          <p:cNvPr id="24" name="TextBox 23"/>
          <p:cNvSpPr txBox="1"/>
          <p:nvPr/>
        </p:nvSpPr>
        <p:spPr>
          <a:xfrm>
            <a:off x="5349240" y="2999232"/>
            <a:ext cx="6309360" cy="320040"/>
          </a:xfrm>
          <a:prstGeom prst="rect">
            <a:avLst/>
          </a:prstGeom>
          <a:noFill/>
        </p:spPr>
        <p:txBody>
          <a:bodyPr wrap="square">
            <a:spAutoFit/>
          </a:bodyPr>
          <a:lstStyle/>
          <a:p>
            <a:pPr algn="l"/>
            <a:r>
              <a:rPr sz="1100" b="1">
                <a:solidFill>
                  <a:srgbClr val="279A5E"/>
                </a:solidFill>
                <a:latin typeface="Calibri"/>
              </a:rPr>
              <a:t>Financials: Decimal(18,4) — no IEEE-754 drift</a:t>
            </a:r>
          </a:p>
        </p:txBody>
      </p:sp>
      <p:sp>
        <p:nvSpPr>
          <p:cNvPr id="25" name="TextBox 24"/>
          <p:cNvSpPr txBox="1"/>
          <p:nvPr/>
        </p:nvSpPr>
        <p:spPr>
          <a:xfrm>
            <a:off x="5349240" y="3337560"/>
            <a:ext cx="6309360" cy="320040"/>
          </a:xfrm>
          <a:prstGeom prst="rect">
            <a:avLst/>
          </a:prstGeom>
          <a:noFill/>
        </p:spPr>
        <p:txBody>
          <a:bodyPr wrap="square">
            <a:spAutoFit/>
          </a:bodyPr>
          <a:lstStyle/>
          <a:p>
            <a:pPr algn="l"/>
            <a:r>
              <a:rPr sz="1100" b="1">
                <a:solidFill>
                  <a:srgbClr val="6B7280"/>
                </a:solidFill>
                <a:latin typeface="Calibri"/>
              </a:rPr>
              <a:t>source_kafka_offset  [dedup key]</a:t>
            </a:r>
          </a:p>
        </p:txBody>
      </p:sp>
      <p:sp>
        <p:nvSpPr>
          <p:cNvPr id="26" name="TextBox 25"/>
          <p:cNvSpPr txBox="1"/>
          <p:nvPr/>
        </p:nvSpPr>
        <p:spPr>
          <a:xfrm>
            <a:off x="5349240" y="3675887"/>
            <a:ext cx="6309360" cy="320040"/>
          </a:xfrm>
          <a:prstGeom prst="rect">
            <a:avLst/>
          </a:prstGeom>
          <a:noFill/>
        </p:spPr>
        <p:txBody>
          <a:bodyPr wrap="square">
            <a:spAutoFit/>
          </a:bodyPr>
          <a:lstStyle/>
          <a:p>
            <a:pPr algn="l"/>
            <a:r>
              <a:rPr sz="1100" b="0">
                <a:solidFill>
                  <a:srgbClr val="6B7280"/>
                </a:solidFill>
                <a:latin typeface="Calibri"/>
              </a:rPr>
              <a:t>bronze_ingested_at, silver_transformed_at</a:t>
            </a:r>
          </a:p>
        </p:txBody>
      </p:sp>
      <p:sp>
        <p:nvSpPr>
          <p:cNvPr id="27" name="Rectangle 26"/>
          <p:cNvSpPr/>
          <p:nvPr/>
        </p:nvSpPr>
        <p:spPr>
          <a:xfrm>
            <a:off x="365760" y="4343400"/>
            <a:ext cx="4023360" cy="347472"/>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DEDUPLICATION</a:t>
            </a:r>
          </a:p>
        </p:txBody>
      </p:sp>
      <p:sp>
        <p:nvSpPr>
          <p:cNvPr id="28" name="Rectangle 27"/>
          <p:cNvSpPr/>
          <p:nvPr/>
        </p:nvSpPr>
        <p:spPr>
          <a:xfrm>
            <a:off x="365760" y="4690872"/>
            <a:ext cx="4023360" cy="16459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4754880"/>
            <a:ext cx="3749039" cy="1508760"/>
          </a:xfrm>
          <a:prstGeom prst="rect">
            <a:avLst/>
          </a:prstGeom>
          <a:noFill/>
        </p:spPr>
        <p:txBody>
          <a:bodyPr wrap="square">
            <a:spAutoFit/>
          </a:bodyPr>
          <a:lstStyle/>
          <a:p>
            <a:pPr algn="l"/>
            <a:r>
              <a:rPr sz="1200" b="0">
                <a:solidFill>
                  <a:srgbClr val="2D323B"/>
                </a:solidFill>
                <a:latin typeface="Calibri"/>
              </a:rPr>
              <a:t>On startup: CloudSilverWriter scans the existing silver table
to load all known source_kafka_offset values.
On merge(): if offset already seen → skip silently.
Idempotent replay of any Kafka message — safe for restarts.</a:t>
            </a:r>
          </a:p>
        </p:txBody>
      </p:sp>
      <p:sp>
        <p:nvSpPr>
          <p:cNvPr id="30" name="Rectangle 29"/>
          <p:cNvSpPr/>
          <p:nvPr/>
        </p:nvSpPr>
        <p:spPr>
          <a:xfrm>
            <a:off x="5212080" y="4343400"/>
            <a:ext cx="6583680" cy="347472"/>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PARTITIONING</a:t>
            </a:r>
          </a:p>
        </p:txBody>
      </p:sp>
      <p:sp>
        <p:nvSpPr>
          <p:cNvPr id="31" name="Rectangle 30"/>
          <p:cNvSpPr/>
          <p:nvPr/>
        </p:nvSpPr>
        <p:spPr>
          <a:xfrm>
            <a:off x="5212080" y="4690872"/>
            <a:ext cx="6583680" cy="16459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349240" y="4754880"/>
            <a:ext cx="6309360" cy="1508760"/>
          </a:xfrm>
          <a:prstGeom prst="rect">
            <a:avLst/>
          </a:prstGeom>
          <a:noFill/>
        </p:spPr>
        <p:txBody>
          <a:bodyPr wrap="square">
            <a:spAutoFit/>
          </a:bodyPr>
          <a:lstStyle/>
          <a:p>
            <a:pPr algn="l"/>
            <a:r>
              <a:rPr sz="1200" b="0">
                <a:solidFill>
                  <a:srgbClr val="2D323B"/>
                </a:solidFill>
                <a:latin typeface="Calibri"/>
              </a:rPr>
              <a:t>Iceberg PartitionSpec: IdentityTransform on (order_year, order_month)
Athena prunes partitions on date-range queries → cost &amp; speed.
silver/year=2020/month=01/  … year=2024/month=12/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57432" cy="548640"/>
          </a:xfrm>
          <a:prstGeom prst="rect">
            <a:avLst/>
          </a:prstGeom>
          <a:noFill/>
        </p:spPr>
        <p:txBody>
          <a:bodyPr wrap="square">
            <a:spAutoFit/>
          </a:bodyPr>
          <a:lstStyle/>
          <a:p>
            <a:pPr algn="l"/>
            <a:r>
              <a:rPr sz="2800" b="1">
                <a:solidFill>
                  <a:srgbClr val="FFFFFF"/>
                </a:solidFill>
                <a:latin typeface="Calibri"/>
              </a:rPr>
              <a:t>Step 4 — Serve via Athena</a:t>
            </a:r>
          </a:p>
        </p:txBody>
      </p:sp>
      <p:sp>
        <p:nvSpPr>
          <p:cNvPr id="5" name="TextBox 4"/>
          <p:cNvSpPr txBox="1"/>
          <p:nvPr/>
        </p:nvSpPr>
        <p:spPr>
          <a:xfrm>
            <a:off x="365760" y="594360"/>
            <a:ext cx="11457432" cy="347472"/>
          </a:xfrm>
          <a:prstGeom prst="rect">
            <a:avLst/>
          </a:prstGeom>
          <a:noFill/>
        </p:spPr>
        <p:txBody>
          <a:bodyPr wrap="square">
            <a:spAutoFit/>
          </a:bodyPr>
          <a:lstStyle/>
          <a:p>
            <a:pPr algn="l"/>
            <a:r>
              <a:rPr sz="1400" b="0">
                <a:solidFill>
                  <a:srgbClr val="00AAD4"/>
                </a:solidFill>
                <a:latin typeface="Calibri"/>
              </a:rPr>
              <a:t>Query bronze and silver directly — no crawlers, no ETL jobs</a:t>
            </a:r>
          </a:p>
        </p:txBody>
      </p:sp>
      <p:sp>
        <p:nvSpPr>
          <p:cNvPr id="6" name="Rectangle 5"/>
          <p:cNvSpPr/>
          <p:nvPr/>
        </p:nvSpPr>
        <p:spPr>
          <a:xfrm>
            <a:off x="0" y="1005840"/>
            <a:ext cx="12188952" cy="36576"/>
          </a:xfrm>
          <a:prstGeom prst="rect">
            <a:avLst/>
          </a:prstGeom>
          <a:solidFill>
            <a:srgbClr val="E8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188720"/>
            <a:ext cx="5486400" cy="36576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NAMED QUERIES</a:t>
            </a:r>
          </a:p>
        </p:txBody>
      </p:sp>
      <p:sp>
        <p:nvSpPr>
          <p:cNvPr id="8" name="Rectangle 7"/>
          <p:cNvSpPr/>
          <p:nvPr/>
        </p:nvSpPr>
        <p:spPr>
          <a:xfrm>
            <a:off x="365760" y="1645920"/>
            <a:ext cx="5486400" cy="1417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1640"/>
            <a:ext cx="5120640" cy="274320"/>
          </a:xfrm>
          <a:prstGeom prst="rect">
            <a:avLst/>
          </a:prstGeom>
          <a:noFill/>
        </p:spPr>
        <p:txBody>
          <a:bodyPr wrap="square">
            <a:spAutoFit/>
          </a:bodyPr>
          <a:lstStyle/>
          <a:p>
            <a:pPr algn="l"/>
            <a:r>
              <a:rPr sz="1200" b="1">
                <a:solidFill>
                  <a:srgbClr val="002B5C"/>
                </a:solidFill>
                <a:latin typeface="Calibri"/>
              </a:rPr>
              <a:t>Preview silver (latest 100 rows)</a:t>
            </a:r>
          </a:p>
        </p:txBody>
      </p:sp>
      <p:sp>
        <p:nvSpPr>
          <p:cNvPr id="10" name="Rectangle 9"/>
          <p:cNvSpPr/>
          <p:nvPr/>
        </p:nvSpPr>
        <p:spPr>
          <a:xfrm>
            <a:off x="457200" y="1993392"/>
            <a:ext cx="5303520" cy="960120"/>
          </a:xfrm>
          <a:prstGeom prst="rect">
            <a:avLst/>
          </a:prstGeom>
          <a:solidFill>
            <a:srgbClr val="2D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029968"/>
            <a:ext cx="5120640" cy="914400"/>
          </a:xfrm>
          <a:prstGeom prst="rect">
            <a:avLst/>
          </a:prstGeom>
          <a:noFill/>
        </p:spPr>
        <p:txBody>
          <a:bodyPr wrap="square">
            <a:spAutoFit/>
          </a:bodyPr>
          <a:lstStyle/>
          <a:p>
            <a:pPr algn="l"/>
            <a:r>
              <a:rPr sz="1100" b="0">
                <a:solidFill>
                  <a:srgbClr val="F4F7FA"/>
                </a:solidFill>
                <a:latin typeface="Calibri"/>
              </a:rPr>
              <a:t>SELECT * FROM sales_silver
ORDER BY silver_transformed_at DESC LIMIT 100</a:t>
            </a:r>
          </a:p>
        </p:txBody>
      </p:sp>
      <p:sp>
        <p:nvSpPr>
          <p:cNvPr id="12" name="Rectangle 11"/>
          <p:cNvSpPr/>
          <p:nvPr/>
        </p:nvSpPr>
        <p:spPr>
          <a:xfrm>
            <a:off x="365760" y="3154680"/>
            <a:ext cx="5486400" cy="1417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200400"/>
            <a:ext cx="5120640" cy="274320"/>
          </a:xfrm>
          <a:prstGeom prst="rect">
            <a:avLst/>
          </a:prstGeom>
          <a:noFill/>
        </p:spPr>
        <p:txBody>
          <a:bodyPr wrap="square">
            <a:spAutoFit/>
          </a:bodyPr>
          <a:lstStyle/>
          <a:p>
            <a:pPr algn="l"/>
            <a:r>
              <a:rPr sz="1200" b="1">
                <a:solidFill>
                  <a:srgbClr val="002B5C"/>
                </a:solidFill>
                <a:latin typeface="Calibri"/>
              </a:rPr>
              <a:t>Revenue by country (silver)</a:t>
            </a:r>
          </a:p>
        </p:txBody>
      </p:sp>
      <p:sp>
        <p:nvSpPr>
          <p:cNvPr id="14" name="Rectangle 13"/>
          <p:cNvSpPr/>
          <p:nvPr/>
        </p:nvSpPr>
        <p:spPr>
          <a:xfrm>
            <a:off x="457200" y="3502152"/>
            <a:ext cx="5303520" cy="960120"/>
          </a:xfrm>
          <a:prstGeom prst="rect">
            <a:avLst/>
          </a:prstGeom>
          <a:solidFill>
            <a:srgbClr val="2D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538728"/>
            <a:ext cx="5120640" cy="914400"/>
          </a:xfrm>
          <a:prstGeom prst="rect">
            <a:avLst/>
          </a:prstGeom>
          <a:noFill/>
        </p:spPr>
        <p:txBody>
          <a:bodyPr wrap="square">
            <a:spAutoFit/>
          </a:bodyPr>
          <a:lstStyle/>
          <a:p>
            <a:pPr algn="l"/>
            <a:r>
              <a:rPr sz="1100" b="0">
                <a:solidFill>
                  <a:srgbClr val="F4F7FA"/>
                </a:solidFill>
                <a:latin typeface="Calibri"/>
              </a:rPr>
              <a:t>SELECT country, SUM(total_revenue) AS revenue
FROM sales_silver GROUP BY 1 ORDER BY 2 DESC</a:t>
            </a:r>
          </a:p>
        </p:txBody>
      </p:sp>
      <p:sp>
        <p:nvSpPr>
          <p:cNvPr id="16" name="Rectangle 15"/>
          <p:cNvSpPr/>
          <p:nvPr/>
        </p:nvSpPr>
        <p:spPr>
          <a:xfrm>
            <a:off x="365760" y="4663440"/>
            <a:ext cx="5486400" cy="1417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709159"/>
            <a:ext cx="5120640" cy="274320"/>
          </a:xfrm>
          <a:prstGeom prst="rect">
            <a:avLst/>
          </a:prstGeom>
          <a:noFill/>
        </p:spPr>
        <p:txBody>
          <a:bodyPr wrap="square">
            <a:spAutoFit/>
          </a:bodyPr>
          <a:lstStyle/>
          <a:p>
            <a:pPr algn="l"/>
            <a:r>
              <a:rPr sz="1200" b="1">
                <a:solidFill>
                  <a:srgbClr val="002B5C"/>
                </a:solidFill>
                <a:latin typeface="Calibri"/>
              </a:rPr>
              <a:t>Dedup check</a:t>
            </a:r>
          </a:p>
        </p:txBody>
      </p:sp>
      <p:sp>
        <p:nvSpPr>
          <p:cNvPr id="18" name="Rectangle 17"/>
          <p:cNvSpPr/>
          <p:nvPr/>
        </p:nvSpPr>
        <p:spPr>
          <a:xfrm>
            <a:off x="457200" y="5010912"/>
            <a:ext cx="5303520" cy="960120"/>
          </a:xfrm>
          <a:prstGeom prst="rect">
            <a:avLst/>
          </a:prstGeom>
          <a:solidFill>
            <a:srgbClr val="2D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5047488"/>
            <a:ext cx="5120640" cy="914400"/>
          </a:xfrm>
          <a:prstGeom prst="rect">
            <a:avLst/>
          </a:prstGeom>
          <a:noFill/>
        </p:spPr>
        <p:txBody>
          <a:bodyPr wrap="square">
            <a:spAutoFit/>
          </a:bodyPr>
          <a:lstStyle/>
          <a:p>
            <a:pPr algn="l"/>
            <a:r>
              <a:rPr sz="1100" b="0">
                <a:solidFill>
                  <a:srgbClr val="F4F7FA"/>
                </a:solidFill>
                <a:latin typeface="Calibri"/>
              </a:rPr>
              <a:t>SELECT source_kafka_offset, COUNT(*) c
FROM sales_silver GROUP BY 1 HAVING c &gt; 1</a:t>
            </a:r>
          </a:p>
        </p:txBody>
      </p:sp>
      <p:sp>
        <p:nvSpPr>
          <p:cNvPr id="20" name="Rectangle 19"/>
          <p:cNvSpPr/>
          <p:nvPr/>
        </p:nvSpPr>
        <p:spPr>
          <a:xfrm>
            <a:off x="6217920" y="1188720"/>
            <a:ext cx="5577840" cy="365760"/>
          </a:xfrm>
          <a:prstGeom prst="rect">
            <a:avLst/>
          </a:prstGeom>
          <a:solidFill>
            <a:srgbClr val="00AA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WHY ATHENA</a:t>
            </a:r>
          </a:p>
        </p:txBody>
      </p:sp>
      <p:sp>
        <p:nvSpPr>
          <p:cNvPr id="21" name="Rectangle 20"/>
          <p:cNvSpPr/>
          <p:nvPr/>
        </p:nvSpPr>
        <p:spPr>
          <a:xfrm>
            <a:off x="6217920" y="1645920"/>
            <a:ext cx="5577840" cy="1005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1709928"/>
            <a:ext cx="5212080" cy="301752"/>
          </a:xfrm>
          <a:prstGeom prst="rect">
            <a:avLst/>
          </a:prstGeom>
          <a:noFill/>
        </p:spPr>
        <p:txBody>
          <a:bodyPr wrap="square">
            <a:spAutoFit/>
          </a:bodyPr>
          <a:lstStyle/>
          <a:p>
            <a:pPr algn="l"/>
            <a:r>
              <a:rPr sz="1400" b="1">
                <a:solidFill>
                  <a:srgbClr val="002B5C"/>
                </a:solidFill>
                <a:latin typeface="Calibri"/>
              </a:rPr>
              <a:t>No crawler needed</a:t>
            </a:r>
          </a:p>
        </p:txBody>
      </p:sp>
      <p:sp>
        <p:nvSpPr>
          <p:cNvPr id="23" name="TextBox 22"/>
          <p:cNvSpPr txBox="1"/>
          <p:nvPr/>
        </p:nvSpPr>
        <p:spPr>
          <a:xfrm>
            <a:off x="6400800" y="1993392"/>
            <a:ext cx="5212080" cy="594360"/>
          </a:xfrm>
          <a:prstGeom prst="rect">
            <a:avLst/>
          </a:prstGeom>
          <a:noFill/>
        </p:spPr>
        <p:txBody>
          <a:bodyPr wrap="square">
            <a:spAutoFit/>
          </a:bodyPr>
          <a:lstStyle/>
          <a:p>
            <a:pPr algn="l"/>
            <a:r>
              <a:rPr sz="1200" b="0">
                <a:solidFill>
                  <a:srgbClr val="2D323B"/>
                </a:solidFill>
                <a:latin typeface="Calibri"/>
              </a:rPr>
              <a:t>PyIceberg registers tables directly in Glue Data Catalog at write time.
Schema always in sync with the data — zero maintenance.</a:t>
            </a:r>
          </a:p>
        </p:txBody>
      </p:sp>
      <p:sp>
        <p:nvSpPr>
          <p:cNvPr id="24" name="Rectangle 23"/>
          <p:cNvSpPr/>
          <p:nvPr/>
        </p:nvSpPr>
        <p:spPr>
          <a:xfrm>
            <a:off x="6217920" y="2761488"/>
            <a:ext cx="5577840" cy="1005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2825496"/>
            <a:ext cx="5212080" cy="301752"/>
          </a:xfrm>
          <a:prstGeom prst="rect">
            <a:avLst/>
          </a:prstGeom>
          <a:noFill/>
        </p:spPr>
        <p:txBody>
          <a:bodyPr wrap="square">
            <a:spAutoFit/>
          </a:bodyPr>
          <a:lstStyle/>
          <a:p>
            <a:pPr algn="l"/>
            <a:r>
              <a:rPr sz="1400" b="1">
                <a:solidFill>
                  <a:srgbClr val="002B5C"/>
                </a:solidFill>
                <a:latin typeface="Calibri"/>
              </a:rPr>
              <a:t>Iceberg native support</a:t>
            </a:r>
          </a:p>
        </p:txBody>
      </p:sp>
      <p:sp>
        <p:nvSpPr>
          <p:cNvPr id="26" name="TextBox 25"/>
          <p:cNvSpPr txBox="1"/>
          <p:nvPr/>
        </p:nvSpPr>
        <p:spPr>
          <a:xfrm>
            <a:off x="6400800" y="3108960"/>
            <a:ext cx="5212080" cy="594360"/>
          </a:xfrm>
          <a:prstGeom prst="rect">
            <a:avLst/>
          </a:prstGeom>
          <a:noFill/>
        </p:spPr>
        <p:txBody>
          <a:bodyPr wrap="square">
            <a:spAutoFit/>
          </a:bodyPr>
          <a:lstStyle/>
          <a:p>
            <a:pPr algn="l"/>
            <a:r>
              <a:rPr sz="1200" b="0">
                <a:solidFill>
                  <a:srgbClr val="2D323B"/>
                </a:solidFill>
                <a:latin typeface="Calibri"/>
              </a:rPr>
              <a:t>Athena Engine v3 reads Iceberg format natively.
Time travel, partition pruning, schema evolution all supported.</a:t>
            </a:r>
          </a:p>
        </p:txBody>
      </p:sp>
      <p:sp>
        <p:nvSpPr>
          <p:cNvPr id="27" name="Rectangle 26"/>
          <p:cNvSpPr/>
          <p:nvPr/>
        </p:nvSpPr>
        <p:spPr>
          <a:xfrm>
            <a:off x="6217920" y="3877056"/>
            <a:ext cx="5577840" cy="1005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0" y="3941064"/>
            <a:ext cx="5212080" cy="301752"/>
          </a:xfrm>
          <a:prstGeom prst="rect">
            <a:avLst/>
          </a:prstGeom>
          <a:noFill/>
        </p:spPr>
        <p:txBody>
          <a:bodyPr wrap="square">
            <a:spAutoFit/>
          </a:bodyPr>
          <a:lstStyle/>
          <a:p>
            <a:pPr algn="l"/>
            <a:r>
              <a:rPr sz="1400" b="1">
                <a:solidFill>
                  <a:srgbClr val="002B5C"/>
                </a:solidFill>
                <a:latin typeface="Calibri"/>
              </a:rPr>
              <a:t>Cost control</a:t>
            </a:r>
          </a:p>
        </p:txBody>
      </p:sp>
      <p:sp>
        <p:nvSpPr>
          <p:cNvPr id="29" name="TextBox 28"/>
          <p:cNvSpPr txBox="1"/>
          <p:nvPr/>
        </p:nvSpPr>
        <p:spPr>
          <a:xfrm>
            <a:off x="6400800" y="4224528"/>
            <a:ext cx="5212080" cy="594360"/>
          </a:xfrm>
          <a:prstGeom prst="rect">
            <a:avLst/>
          </a:prstGeom>
          <a:noFill/>
        </p:spPr>
        <p:txBody>
          <a:bodyPr wrap="square">
            <a:spAutoFit/>
          </a:bodyPr>
          <a:lstStyle/>
          <a:p>
            <a:pPr algn="l"/>
            <a:r>
              <a:rPr sz="1200" b="0">
                <a:solidFill>
                  <a:srgbClr val="2D323B"/>
                </a:solidFill>
                <a:latin typeface="Calibri"/>
              </a:rPr>
              <a:t>Workgroup enforces 10GB scan limit per query (non-prod).
Partition pruning on (order_year, order_month) reduces scan size.</a:t>
            </a:r>
          </a:p>
        </p:txBody>
      </p:sp>
      <p:sp>
        <p:nvSpPr>
          <p:cNvPr id="30" name="Rectangle 29"/>
          <p:cNvSpPr/>
          <p:nvPr/>
        </p:nvSpPr>
        <p:spPr>
          <a:xfrm>
            <a:off x="6217920" y="4992624"/>
            <a:ext cx="5577840" cy="1005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0" y="5056632"/>
            <a:ext cx="5212080" cy="301752"/>
          </a:xfrm>
          <a:prstGeom prst="rect">
            <a:avLst/>
          </a:prstGeom>
          <a:noFill/>
        </p:spPr>
        <p:txBody>
          <a:bodyPr wrap="square">
            <a:spAutoFit/>
          </a:bodyPr>
          <a:lstStyle/>
          <a:p>
            <a:pPr algn="l"/>
            <a:r>
              <a:rPr sz="1400" b="1">
                <a:solidFill>
                  <a:srgbClr val="002B5C"/>
                </a:solidFill>
                <a:latin typeface="Calibri"/>
              </a:rPr>
              <a:t>Zero-ops</a:t>
            </a:r>
          </a:p>
        </p:txBody>
      </p:sp>
      <p:sp>
        <p:nvSpPr>
          <p:cNvPr id="32" name="TextBox 31"/>
          <p:cNvSpPr txBox="1"/>
          <p:nvPr/>
        </p:nvSpPr>
        <p:spPr>
          <a:xfrm>
            <a:off x="6400800" y="5340096"/>
            <a:ext cx="5212080" cy="594360"/>
          </a:xfrm>
          <a:prstGeom prst="rect">
            <a:avLst/>
          </a:prstGeom>
          <a:noFill/>
        </p:spPr>
        <p:txBody>
          <a:bodyPr wrap="square">
            <a:spAutoFit/>
          </a:bodyPr>
          <a:lstStyle/>
          <a:p>
            <a:pPr algn="l"/>
            <a:r>
              <a:rPr sz="1200" b="0">
                <a:solidFill>
                  <a:srgbClr val="2D323B"/>
                </a:solidFill>
                <a:latin typeface="Calibri"/>
              </a:rPr>
              <a:t>Serverless — no cluster to manage, pay per TB scanned.
Results stored in S3 athena-results/ with 7-day lifecycle.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57432" cy="548640"/>
          </a:xfrm>
          <a:prstGeom prst="rect">
            <a:avLst/>
          </a:prstGeom>
          <a:noFill/>
        </p:spPr>
        <p:txBody>
          <a:bodyPr wrap="square">
            <a:spAutoFit/>
          </a:bodyPr>
          <a:lstStyle/>
          <a:p>
            <a:pPr algn="l"/>
            <a:r>
              <a:rPr sz="2800" b="1">
                <a:solidFill>
                  <a:srgbClr val="FFFFFF"/>
                </a:solidFill>
                <a:latin typeface="Calibri"/>
              </a:rPr>
              <a:t>Infrastructure as Code</a:t>
            </a:r>
          </a:p>
        </p:txBody>
      </p:sp>
      <p:sp>
        <p:nvSpPr>
          <p:cNvPr id="5" name="TextBox 4"/>
          <p:cNvSpPr txBox="1"/>
          <p:nvPr/>
        </p:nvSpPr>
        <p:spPr>
          <a:xfrm>
            <a:off x="365760" y="594360"/>
            <a:ext cx="11457432" cy="347472"/>
          </a:xfrm>
          <a:prstGeom prst="rect">
            <a:avLst/>
          </a:prstGeom>
          <a:noFill/>
        </p:spPr>
        <p:txBody>
          <a:bodyPr wrap="square">
            <a:spAutoFit/>
          </a:bodyPr>
          <a:lstStyle/>
          <a:p>
            <a:pPr algn="l"/>
            <a:r>
              <a:rPr sz="1400" b="0">
                <a:solidFill>
                  <a:srgbClr val="00AAD4"/>
                </a:solidFill>
                <a:latin typeface="Calibri"/>
              </a:rPr>
              <a:t>Terraform · 7 modules · 4 environments · Zero manual steps</a:t>
            </a:r>
          </a:p>
        </p:txBody>
      </p:sp>
      <p:sp>
        <p:nvSpPr>
          <p:cNvPr id="6" name="Rectangle 5"/>
          <p:cNvSpPr/>
          <p:nvPr/>
        </p:nvSpPr>
        <p:spPr>
          <a:xfrm>
            <a:off x="0" y="1005840"/>
            <a:ext cx="12188952" cy="36576"/>
          </a:xfrm>
          <a:prstGeom prst="rect">
            <a:avLst/>
          </a:prstGeom>
          <a:solidFill>
            <a:srgbClr val="E8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371600"/>
            <a:ext cx="2606040" cy="347472"/>
          </a:xfrm>
          <a:prstGeom prst="rect">
            <a:avLst/>
          </a:prstGeom>
          <a:solidFill>
            <a:srgbClr val="00AA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module "networking"</a:t>
            </a:r>
          </a:p>
        </p:txBody>
      </p:sp>
      <p:sp>
        <p:nvSpPr>
          <p:cNvPr id="8" name="Rectangle 7"/>
          <p:cNvSpPr/>
          <p:nvPr/>
        </p:nvSpPr>
        <p:spPr>
          <a:xfrm>
            <a:off x="365760" y="1719072"/>
            <a:ext cx="2606040" cy="12344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783080"/>
            <a:ext cx="2377440" cy="1097280"/>
          </a:xfrm>
          <a:prstGeom prst="rect">
            <a:avLst/>
          </a:prstGeom>
          <a:noFill/>
        </p:spPr>
        <p:txBody>
          <a:bodyPr wrap="square">
            <a:spAutoFit/>
          </a:bodyPr>
          <a:lstStyle/>
          <a:p>
            <a:pPr algn="l"/>
            <a:r>
              <a:rPr sz="1100" b="0">
                <a:solidFill>
                  <a:srgbClr val="2D323B"/>
                </a:solidFill>
                <a:latin typeface="Calibri"/>
              </a:rPr>
              <a:t>VPC, 3-AZ subnets
IGW, NAT gateways
MSK security group</a:t>
            </a:r>
          </a:p>
        </p:txBody>
      </p:sp>
      <p:sp>
        <p:nvSpPr>
          <p:cNvPr id="10" name="Rectangle 9"/>
          <p:cNvSpPr/>
          <p:nvPr/>
        </p:nvSpPr>
        <p:spPr>
          <a:xfrm>
            <a:off x="365760" y="3200400"/>
            <a:ext cx="2606040" cy="347472"/>
          </a:xfrm>
          <a:prstGeom prst="rect">
            <a:avLst/>
          </a:prstGeom>
          <a:solidFill>
            <a:srgbClr val="E86A1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module "s3"</a:t>
            </a:r>
          </a:p>
        </p:txBody>
      </p:sp>
      <p:sp>
        <p:nvSpPr>
          <p:cNvPr id="11" name="Rectangle 10"/>
          <p:cNvSpPr/>
          <p:nvPr/>
        </p:nvSpPr>
        <p:spPr>
          <a:xfrm>
            <a:off x="365760" y="3547872"/>
            <a:ext cx="2606040" cy="12344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3611880"/>
            <a:ext cx="2377440" cy="1097280"/>
          </a:xfrm>
          <a:prstGeom prst="rect">
            <a:avLst/>
          </a:prstGeom>
          <a:noFill/>
        </p:spPr>
        <p:txBody>
          <a:bodyPr wrap="square">
            <a:spAutoFit/>
          </a:bodyPr>
          <a:lstStyle/>
          <a:p>
            <a:pPr algn="l"/>
            <a:r>
              <a:rPr sz="1100" b="0">
                <a:solidFill>
                  <a:srgbClr val="2D323B"/>
                </a:solidFill>
                <a:latin typeface="Calibri"/>
              </a:rPr>
              <a:t>Data lake bucket
Versioning, SSE-S3
Lifecycle rules</a:t>
            </a:r>
          </a:p>
        </p:txBody>
      </p:sp>
      <p:sp>
        <p:nvSpPr>
          <p:cNvPr id="13" name="Rectangle 12"/>
          <p:cNvSpPr/>
          <p:nvPr/>
        </p:nvSpPr>
        <p:spPr>
          <a:xfrm>
            <a:off x="3108960" y="1371600"/>
            <a:ext cx="2606040" cy="347472"/>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module "msk"</a:t>
            </a:r>
          </a:p>
        </p:txBody>
      </p:sp>
      <p:sp>
        <p:nvSpPr>
          <p:cNvPr id="14" name="Rectangle 13"/>
          <p:cNvSpPr/>
          <p:nvPr/>
        </p:nvSpPr>
        <p:spPr>
          <a:xfrm>
            <a:off x="3108960" y="1719072"/>
            <a:ext cx="2606040" cy="12344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46120" y="1783080"/>
            <a:ext cx="2377440" cy="1097280"/>
          </a:xfrm>
          <a:prstGeom prst="rect">
            <a:avLst/>
          </a:prstGeom>
          <a:noFill/>
        </p:spPr>
        <p:txBody>
          <a:bodyPr wrap="square">
            <a:spAutoFit/>
          </a:bodyPr>
          <a:lstStyle/>
          <a:p>
            <a:pPr algn="l"/>
            <a:r>
              <a:rPr sz="1100" b="0">
                <a:solidFill>
                  <a:srgbClr val="2D323B"/>
                </a:solidFill>
                <a:latin typeface="Calibri"/>
              </a:rPr>
              <a:t>MSK cluster
Kafka 3.x
CloudWatch + Prometheus</a:t>
            </a:r>
          </a:p>
        </p:txBody>
      </p:sp>
      <p:sp>
        <p:nvSpPr>
          <p:cNvPr id="16" name="Rectangle 15"/>
          <p:cNvSpPr/>
          <p:nvPr/>
        </p:nvSpPr>
        <p:spPr>
          <a:xfrm>
            <a:off x="3108960" y="3200400"/>
            <a:ext cx="2606040" cy="347472"/>
          </a:xfrm>
          <a:prstGeom prst="rect">
            <a:avLst/>
          </a:prstGeom>
          <a:solidFill>
            <a:srgbClr val="279A5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module "glue"</a:t>
            </a:r>
          </a:p>
        </p:txBody>
      </p:sp>
      <p:sp>
        <p:nvSpPr>
          <p:cNvPr id="17" name="Rectangle 16"/>
          <p:cNvSpPr/>
          <p:nvPr/>
        </p:nvSpPr>
        <p:spPr>
          <a:xfrm>
            <a:off x="3108960" y="3547872"/>
            <a:ext cx="2606040" cy="12344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46120" y="3611880"/>
            <a:ext cx="2377440" cy="1097280"/>
          </a:xfrm>
          <a:prstGeom prst="rect">
            <a:avLst/>
          </a:prstGeom>
          <a:noFill/>
        </p:spPr>
        <p:txBody>
          <a:bodyPr wrap="square">
            <a:spAutoFit/>
          </a:bodyPr>
          <a:lstStyle/>
          <a:p>
            <a:pPr algn="l"/>
            <a:r>
              <a:rPr sz="1100" b="0">
                <a:solidFill>
                  <a:srgbClr val="2D323B"/>
                </a:solidFill>
                <a:latin typeface="Calibri"/>
              </a:rPr>
              <a:t>Glue database
IAM role for crawlers
Tables via PyIceberg</a:t>
            </a:r>
          </a:p>
        </p:txBody>
      </p:sp>
      <p:sp>
        <p:nvSpPr>
          <p:cNvPr id="19" name="Rectangle 18"/>
          <p:cNvSpPr/>
          <p:nvPr/>
        </p:nvSpPr>
        <p:spPr>
          <a:xfrm>
            <a:off x="5852160" y="1371600"/>
            <a:ext cx="2606040" cy="347472"/>
          </a:xfrm>
          <a:prstGeom prst="rect">
            <a:avLst/>
          </a:prstGeom>
          <a:solidFill>
            <a:srgbClr val="00AA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module "athena"</a:t>
            </a:r>
          </a:p>
        </p:txBody>
      </p:sp>
      <p:sp>
        <p:nvSpPr>
          <p:cNvPr id="20" name="Rectangle 19"/>
          <p:cNvSpPr/>
          <p:nvPr/>
        </p:nvSpPr>
        <p:spPr>
          <a:xfrm>
            <a:off x="5852160" y="1719072"/>
            <a:ext cx="2606040" cy="12344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89320" y="1783080"/>
            <a:ext cx="2377440" cy="1097280"/>
          </a:xfrm>
          <a:prstGeom prst="rect">
            <a:avLst/>
          </a:prstGeom>
          <a:noFill/>
        </p:spPr>
        <p:txBody>
          <a:bodyPr wrap="square">
            <a:spAutoFit/>
          </a:bodyPr>
          <a:lstStyle/>
          <a:p>
            <a:pPr algn="l"/>
            <a:r>
              <a:rPr sz="1100" b="0">
                <a:solidFill>
                  <a:srgbClr val="2D323B"/>
                </a:solidFill>
                <a:latin typeface="Calibri"/>
              </a:rPr>
              <a:t>Workgroup Engine v3
10GB scan limit
3 named queries</a:t>
            </a:r>
          </a:p>
        </p:txBody>
      </p:sp>
      <p:sp>
        <p:nvSpPr>
          <p:cNvPr id="22" name="Rectangle 21"/>
          <p:cNvSpPr/>
          <p:nvPr/>
        </p:nvSpPr>
        <p:spPr>
          <a:xfrm>
            <a:off x="5852160" y="3200400"/>
            <a:ext cx="2606040" cy="347472"/>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module "iam"</a:t>
            </a:r>
          </a:p>
        </p:txBody>
      </p:sp>
      <p:sp>
        <p:nvSpPr>
          <p:cNvPr id="23" name="Rectangle 22"/>
          <p:cNvSpPr/>
          <p:nvPr/>
        </p:nvSpPr>
        <p:spPr>
          <a:xfrm>
            <a:off x="5852160" y="3547872"/>
            <a:ext cx="2606040" cy="12344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89320" y="3611880"/>
            <a:ext cx="2377440" cy="1097280"/>
          </a:xfrm>
          <a:prstGeom prst="rect">
            <a:avLst/>
          </a:prstGeom>
          <a:noFill/>
        </p:spPr>
        <p:txBody>
          <a:bodyPr wrap="square">
            <a:spAutoFit/>
          </a:bodyPr>
          <a:lstStyle/>
          <a:p>
            <a:pPr algn="l"/>
            <a:r>
              <a:rPr sz="1100" b="0">
                <a:solidFill>
                  <a:srgbClr val="2D323B"/>
                </a:solidFill>
                <a:latin typeface="Calibri"/>
              </a:rPr>
              <a:t>Pipeline execution role
S3 + MSK + Glue + CW
Least privilege</a:t>
            </a:r>
          </a:p>
        </p:txBody>
      </p:sp>
      <p:sp>
        <p:nvSpPr>
          <p:cNvPr id="25" name="Rectangle 24"/>
          <p:cNvSpPr/>
          <p:nvPr/>
        </p:nvSpPr>
        <p:spPr>
          <a:xfrm>
            <a:off x="8595360" y="1371600"/>
            <a:ext cx="2606040" cy="347472"/>
          </a:xfrm>
          <a:prstGeom prst="rect">
            <a:avLst/>
          </a:prstGeom>
          <a:solidFill>
            <a:srgbClr val="006CA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module "scheduler"</a:t>
            </a:r>
          </a:p>
        </p:txBody>
      </p:sp>
      <p:sp>
        <p:nvSpPr>
          <p:cNvPr id="26" name="Rectangle 25"/>
          <p:cNvSpPr/>
          <p:nvPr/>
        </p:nvSpPr>
        <p:spPr>
          <a:xfrm>
            <a:off x="8595360" y="1719072"/>
            <a:ext cx="2606040" cy="12344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32520" y="1783080"/>
            <a:ext cx="2377440" cy="1097280"/>
          </a:xfrm>
          <a:prstGeom prst="rect">
            <a:avLst/>
          </a:prstGeom>
          <a:noFill/>
        </p:spPr>
        <p:txBody>
          <a:bodyPr wrap="square">
            <a:spAutoFit/>
          </a:bodyPr>
          <a:lstStyle/>
          <a:p>
            <a:pPr algn="l"/>
            <a:r>
              <a:rPr sz="1100" b="0">
                <a:solidFill>
                  <a:srgbClr val="2D323B"/>
                </a:solidFill>
                <a:latin typeface="Calibri"/>
              </a:rPr>
              <a:t>EventBridge Scheduler
Step Functions SM
ECS Fargate tasks</a:t>
            </a:r>
          </a:p>
        </p:txBody>
      </p:sp>
      <p:sp>
        <p:nvSpPr>
          <p:cNvPr id="28" name="Rectangle 27"/>
          <p:cNvSpPr/>
          <p:nvPr/>
        </p:nvSpPr>
        <p:spPr>
          <a:xfrm>
            <a:off x="365760" y="5120640"/>
            <a:ext cx="11430000" cy="347472"/>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4 ENVIRONMENTS</a:t>
            </a:r>
          </a:p>
        </p:txBody>
      </p:sp>
      <p:sp>
        <p:nvSpPr>
          <p:cNvPr id="29" name="Rectangle 28"/>
          <p:cNvSpPr/>
          <p:nvPr/>
        </p:nvSpPr>
        <p:spPr>
          <a:xfrm>
            <a:off x="365760" y="5486400"/>
            <a:ext cx="2743200" cy="1005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 y="5532120"/>
            <a:ext cx="2468880" cy="274320"/>
          </a:xfrm>
          <a:prstGeom prst="rect">
            <a:avLst/>
          </a:prstGeom>
          <a:noFill/>
        </p:spPr>
        <p:txBody>
          <a:bodyPr wrap="square">
            <a:spAutoFit/>
          </a:bodyPr>
          <a:lstStyle/>
          <a:p>
            <a:pPr algn="l"/>
            <a:r>
              <a:rPr sz="1200" b="1">
                <a:solidFill>
                  <a:srgbClr val="002B5C"/>
                </a:solidFill>
                <a:latin typeface="Calibri"/>
              </a:rPr>
              <a:t>dev.tfvars</a:t>
            </a:r>
          </a:p>
        </p:txBody>
      </p:sp>
      <p:sp>
        <p:nvSpPr>
          <p:cNvPr id="31" name="TextBox 30"/>
          <p:cNvSpPr txBox="1"/>
          <p:nvPr/>
        </p:nvSpPr>
        <p:spPr>
          <a:xfrm>
            <a:off x="502920" y="5806440"/>
            <a:ext cx="2468880" cy="274320"/>
          </a:xfrm>
          <a:prstGeom prst="rect">
            <a:avLst/>
          </a:prstGeom>
          <a:noFill/>
        </p:spPr>
        <p:txBody>
          <a:bodyPr wrap="square">
            <a:spAutoFit/>
          </a:bodyPr>
          <a:lstStyle/>
          <a:p>
            <a:pPr algn="l"/>
            <a:r>
              <a:rPr sz="1100" b="0">
                <a:solidFill>
                  <a:srgbClr val="2D323B"/>
                </a:solidFill>
                <a:latin typeface="Calibri"/>
              </a:rPr>
              <a:t>kafka.t3.small · 1 broker</a:t>
            </a:r>
          </a:p>
        </p:txBody>
      </p:sp>
      <p:sp>
        <p:nvSpPr>
          <p:cNvPr id="32" name="TextBox 31"/>
          <p:cNvSpPr txBox="1"/>
          <p:nvPr/>
        </p:nvSpPr>
        <p:spPr>
          <a:xfrm>
            <a:off x="502920" y="6080760"/>
            <a:ext cx="2468880" cy="274320"/>
          </a:xfrm>
          <a:prstGeom prst="rect">
            <a:avLst/>
          </a:prstGeom>
          <a:noFill/>
        </p:spPr>
        <p:txBody>
          <a:bodyPr wrap="square">
            <a:spAutoFit/>
          </a:bodyPr>
          <a:lstStyle/>
          <a:p>
            <a:pPr algn="l"/>
            <a:r>
              <a:rPr sz="1100" b="0">
                <a:solidFill>
                  <a:srgbClr val="6B7280"/>
                </a:solidFill>
                <a:latin typeface="Calibri"/>
              </a:rPr>
              <a:t>Local iteration</a:t>
            </a:r>
          </a:p>
        </p:txBody>
      </p:sp>
      <p:sp>
        <p:nvSpPr>
          <p:cNvPr id="33" name="Rectangle 32"/>
          <p:cNvSpPr/>
          <p:nvPr/>
        </p:nvSpPr>
        <p:spPr>
          <a:xfrm>
            <a:off x="3246120" y="5486400"/>
            <a:ext cx="2743200" cy="1005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83279" y="5532120"/>
            <a:ext cx="2468880" cy="274320"/>
          </a:xfrm>
          <a:prstGeom prst="rect">
            <a:avLst/>
          </a:prstGeom>
          <a:noFill/>
        </p:spPr>
        <p:txBody>
          <a:bodyPr wrap="square">
            <a:spAutoFit/>
          </a:bodyPr>
          <a:lstStyle/>
          <a:p>
            <a:pPr algn="l"/>
            <a:r>
              <a:rPr sz="1200" b="1">
                <a:solidFill>
                  <a:srgbClr val="002B5C"/>
                </a:solidFill>
                <a:latin typeface="Calibri"/>
              </a:rPr>
              <a:t>int.tfvars</a:t>
            </a:r>
          </a:p>
        </p:txBody>
      </p:sp>
      <p:sp>
        <p:nvSpPr>
          <p:cNvPr id="35" name="TextBox 34"/>
          <p:cNvSpPr txBox="1"/>
          <p:nvPr/>
        </p:nvSpPr>
        <p:spPr>
          <a:xfrm>
            <a:off x="3383279" y="5806440"/>
            <a:ext cx="2468880" cy="274320"/>
          </a:xfrm>
          <a:prstGeom prst="rect">
            <a:avLst/>
          </a:prstGeom>
          <a:noFill/>
        </p:spPr>
        <p:txBody>
          <a:bodyPr wrap="square">
            <a:spAutoFit/>
          </a:bodyPr>
          <a:lstStyle/>
          <a:p>
            <a:pPr algn="l"/>
            <a:r>
              <a:rPr sz="1100" b="0">
                <a:solidFill>
                  <a:srgbClr val="2D323B"/>
                </a:solidFill>
                <a:latin typeface="Calibri"/>
              </a:rPr>
              <a:t>kafka.m5.large · 3 brokers</a:t>
            </a:r>
          </a:p>
        </p:txBody>
      </p:sp>
      <p:sp>
        <p:nvSpPr>
          <p:cNvPr id="36" name="TextBox 35"/>
          <p:cNvSpPr txBox="1"/>
          <p:nvPr/>
        </p:nvSpPr>
        <p:spPr>
          <a:xfrm>
            <a:off x="3383279" y="6080760"/>
            <a:ext cx="2468880" cy="274320"/>
          </a:xfrm>
          <a:prstGeom prst="rect">
            <a:avLst/>
          </a:prstGeom>
          <a:noFill/>
        </p:spPr>
        <p:txBody>
          <a:bodyPr wrap="square">
            <a:spAutoFit/>
          </a:bodyPr>
          <a:lstStyle/>
          <a:p>
            <a:pPr algn="l"/>
            <a:r>
              <a:rPr sz="1100" b="0">
                <a:solidFill>
                  <a:srgbClr val="6B7280"/>
                </a:solidFill>
                <a:latin typeface="Calibri"/>
              </a:rPr>
              <a:t>Integration tests</a:t>
            </a:r>
          </a:p>
        </p:txBody>
      </p:sp>
      <p:sp>
        <p:nvSpPr>
          <p:cNvPr id="37" name="Rectangle 36"/>
          <p:cNvSpPr/>
          <p:nvPr/>
        </p:nvSpPr>
        <p:spPr>
          <a:xfrm>
            <a:off x="6126480" y="5486400"/>
            <a:ext cx="2743200" cy="1005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63640" y="5532120"/>
            <a:ext cx="2468880" cy="274320"/>
          </a:xfrm>
          <a:prstGeom prst="rect">
            <a:avLst/>
          </a:prstGeom>
          <a:noFill/>
        </p:spPr>
        <p:txBody>
          <a:bodyPr wrap="square">
            <a:spAutoFit/>
          </a:bodyPr>
          <a:lstStyle/>
          <a:p>
            <a:pPr algn="l"/>
            <a:r>
              <a:rPr sz="1200" b="1">
                <a:solidFill>
                  <a:srgbClr val="002B5C"/>
                </a:solidFill>
                <a:latin typeface="Calibri"/>
              </a:rPr>
              <a:t>uat.tfvars</a:t>
            </a:r>
          </a:p>
        </p:txBody>
      </p:sp>
      <p:sp>
        <p:nvSpPr>
          <p:cNvPr id="39" name="TextBox 38"/>
          <p:cNvSpPr txBox="1"/>
          <p:nvPr/>
        </p:nvSpPr>
        <p:spPr>
          <a:xfrm>
            <a:off x="6263640" y="5806440"/>
            <a:ext cx="2468880" cy="274320"/>
          </a:xfrm>
          <a:prstGeom prst="rect">
            <a:avLst/>
          </a:prstGeom>
          <a:noFill/>
        </p:spPr>
        <p:txBody>
          <a:bodyPr wrap="square">
            <a:spAutoFit/>
          </a:bodyPr>
          <a:lstStyle/>
          <a:p>
            <a:pPr algn="l"/>
            <a:r>
              <a:rPr sz="1100" b="0">
                <a:solidFill>
                  <a:srgbClr val="2D323B"/>
                </a:solidFill>
                <a:latin typeface="Calibri"/>
              </a:rPr>
              <a:t>kafka.m5.large · 3 brokers</a:t>
            </a:r>
          </a:p>
        </p:txBody>
      </p:sp>
      <p:sp>
        <p:nvSpPr>
          <p:cNvPr id="40" name="TextBox 39"/>
          <p:cNvSpPr txBox="1"/>
          <p:nvPr/>
        </p:nvSpPr>
        <p:spPr>
          <a:xfrm>
            <a:off x="6263640" y="6080760"/>
            <a:ext cx="2468880" cy="274320"/>
          </a:xfrm>
          <a:prstGeom prst="rect">
            <a:avLst/>
          </a:prstGeom>
          <a:noFill/>
        </p:spPr>
        <p:txBody>
          <a:bodyPr wrap="square">
            <a:spAutoFit/>
          </a:bodyPr>
          <a:lstStyle/>
          <a:p>
            <a:pPr algn="l"/>
            <a:r>
              <a:rPr sz="1100" b="0">
                <a:solidFill>
                  <a:srgbClr val="6B7280"/>
                </a:solidFill>
                <a:latin typeface="Calibri"/>
              </a:rPr>
              <a:t>Pre-production</a:t>
            </a:r>
          </a:p>
        </p:txBody>
      </p:sp>
      <p:sp>
        <p:nvSpPr>
          <p:cNvPr id="41" name="Rectangle 40"/>
          <p:cNvSpPr/>
          <p:nvPr/>
        </p:nvSpPr>
        <p:spPr>
          <a:xfrm>
            <a:off x="9006840" y="5486400"/>
            <a:ext cx="2743200" cy="1005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44000" y="5532120"/>
            <a:ext cx="2468880" cy="274320"/>
          </a:xfrm>
          <a:prstGeom prst="rect">
            <a:avLst/>
          </a:prstGeom>
          <a:noFill/>
        </p:spPr>
        <p:txBody>
          <a:bodyPr wrap="square">
            <a:spAutoFit/>
          </a:bodyPr>
          <a:lstStyle/>
          <a:p>
            <a:pPr algn="l"/>
            <a:r>
              <a:rPr sz="1200" b="1">
                <a:solidFill>
                  <a:srgbClr val="002B5C"/>
                </a:solidFill>
                <a:latin typeface="Calibri"/>
              </a:rPr>
              <a:t>prod.tfvars</a:t>
            </a:r>
          </a:p>
        </p:txBody>
      </p:sp>
      <p:sp>
        <p:nvSpPr>
          <p:cNvPr id="43" name="TextBox 42"/>
          <p:cNvSpPr txBox="1"/>
          <p:nvPr/>
        </p:nvSpPr>
        <p:spPr>
          <a:xfrm>
            <a:off x="9144000" y="5806440"/>
            <a:ext cx="2468880" cy="274320"/>
          </a:xfrm>
          <a:prstGeom prst="rect">
            <a:avLst/>
          </a:prstGeom>
          <a:noFill/>
        </p:spPr>
        <p:txBody>
          <a:bodyPr wrap="square">
            <a:spAutoFit/>
          </a:bodyPr>
          <a:lstStyle/>
          <a:p>
            <a:pPr algn="l"/>
            <a:r>
              <a:rPr sz="1100" b="0">
                <a:solidFill>
                  <a:srgbClr val="2D323B"/>
                </a:solidFill>
                <a:latin typeface="Calibri"/>
              </a:rPr>
              <a:t>kafka.m5.2xlarge · 3 brokers</a:t>
            </a:r>
          </a:p>
        </p:txBody>
      </p:sp>
      <p:sp>
        <p:nvSpPr>
          <p:cNvPr id="44" name="TextBox 43"/>
          <p:cNvSpPr txBox="1"/>
          <p:nvPr/>
        </p:nvSpPr>
        <p:spPr>
          <a:xfrm>
            <a:off x="9144000" y="6080760"/>
            <a:ext cx="2468880" cy="274320"/>
          </a:xfrm>
          <a:prstGeom prst="rect">
            <a:avLst/>
          </a:prstGeom>
          <a:noFill/>
        </p:spPr>
        <p:txBody>
          <a:bodyPr wrap="square">
            <a:spAutoFit/>
          </a:bodyPr>
          <a:lstStyle/>
          <a:p>
            <a:pPr algn="l"/>
            <a:r>
              <a:rPr sz="1100" b="0">
                <a:solidFill>
                  <a:srgbClr val="6B7280"/>
                </a:solidFill>
                <a:latin typeface="Calibri"/>
              </a:rPr>
              <a:t>Production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57432" cy="548640"/>
          </a:xfrm>
          <a:prstGeom prst="rect">
            <a:avLst/>
          </a:prstGeom>
          <a:noFill/>
        </p:spPr>
        <p:txBody>
          <a:bodyPr wrap="square">
            <a:spAutoFit/>
          </a:bodyPr>
          <a:lstStyle/>
          <a:p>
            <a:pPr algn="l"/>
            <a:r>
              <a:rPr sz="2800" b="1">
                <a:solidFill>
                  <a:srgbClr val="FFFFFF"/>
                </a:solidFill>
                <a:latin typeface="Calibri"/>
              </a:rPr>
              <a:t>Continuous Ingestion</a:t>
            </a:r>
          </a:p>
        </p:txBody>
      </p:sp>
      <p:sp>
        <p:nvSpPr>
          <p:cNvPr id="5" name="TextBox 4"/>
          <p:cNvSpPr txBox="1"/>
          <p:nvPr/>
        </p:nvSpPr>
        <p:spPr>
          <a:xfrm>
            <a:off x="365760" y="594360"/>
            <a:ext cx="11457432" cy="347472"/>
          </a:xfrm>
          <a:prstGeom prst="rect">
            <a:avLst/>
          </a:prstGeom>
          <a:noFill/>
        </p:spPr>
        <p:txBody>
          <a:bodyPr wrap="square">
            <a:spAutoFit/>
          </a:bodyPr>
          <a:lstStyle/>
          <a:p>
            <a:pPr algn="l"/>
            <a:r>
              <a:rPr sz="1400" b="0">
                <a:solidFill>
                  <a:srgbClr val="00AAD4"/>
                </a:solidFill>
                <a:latin typeface="Calibri"/>
              </a:rPr>
              <a:t>Designed from day 1 for daily batches — not a one-off script</a:t>
            </a:r>
          </a:p>
        </p:txBody>
      </p:sp>
      <p:sp>
        <p:nvSpPr>
          <p:cNvPr id="6" name="Rectangle 5"/>
          <p:cNvSpPr/>
          <p:nvPr/>
        </p:nvSpPr>
        <p:spPr>
          <a:xfrm>
            <a:off x="0" y="1005840"/>
            <a:ext cx="12188952" cy="36576"/>
          </a:xfrm>
          <a:prstGeom prst="rect">
            <a:avLst/>
          </a:prstGeom>
          <a:solidFill>
            <a:srgbClr val="E8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188720"/>
            <a:ext cx="5303520" cy="36576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BEFORE  (one-off)</a:t>
            </a:r>
          </a:p>
        </p:txBody>
      </p:sp>
      <p:sp>
        <p:nvSpPr>
          <p:cNvPr id="8" name="Rectangle 7"/>
          <p:cNvSpPr/>
          <p:nvPr/>
        </p:nvSpPr>
        <p:spPr>
          <a:xfrm>
            <a:off x="365760" y="1554480"/>
            <a:ext cx="5303520" cy="2103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45920"/>
            <a:ext cx="4937760" cy="365760"/>
          </a:xfrm>
          <a:prstGeom prst="rect">
            <a:avLst/>
          </a:prstGeom>
          <a:noFill/>
        </p:spPr>
        <p:txBody>
          <a:bodyPr wrap="square">
            <a:spAutoFit/>
          </a:bodyPr>
          <a:lstStyle/>
          <a:p>
            <a:pPr algn="l"/>
            <a:r>
              <a:rPr sz="1300" b="0">
                <a:solidFill>
                  <a:srgbClr val="2D323B"/>
                </a:solidFill>
                <a:latin typeface="Calibri"/>
              </a:rPr>
              <a:t>• Download runs once manually</a:t>
            </a:r>
          </a:p>
        </p:txBody>
      </p:sp>
      <p:sp>
        <p:nvSpPr>
          <p:cNvPr id="10" name="TextBox 9"/>
          <p:cNvSpPr txBox="1"/>
          <p:nvPr/>
        </p:nvSpPr>
        <p:spPr>
          <a:xfrm>
            <a:off x="548640" y="2039112"/>
            <a:ext cx="4937760" cy="365760"/>
          </a:xfrm>
          <a:prstGeom prst="rect">
            <a:avLst/>
          </a:prstGeom>
          <a:noFill/>
        </p:spPr>
        <p:txBody>
          <a:bodyPr wrap="square">
            <a:spAutoFit/>
          </a:bodyPr>
          <a:lstStyle/>
          <a:p>
            <a:pPr algn="l"/>
            <a:r>
              <a:rPr sz="1300" b="0">
                <a:solidFill>
                  <a:srgbClr val="2D323B"/>
                </a:solidFill>
                <a:latin typeface="Calibri"/>
              </a:rPr>
              <a:t>• No check: always re-downloads</a:t>
            </a:r>
          </a:p>
        </p:txBody>
      </p:sp>
      <p:sp>
        <p:nvSpPr>
          <p:cNvPr id="11" name="TextBox 10"/>
          <p:cNvSpPr txBox="1"/>
          <p:nvPr/>
        </p:nvSpPr>
        <p:spPr>
          <a:xfrm>
            <a:off x="548640" y="2432304"/>
            <a:ext cx="4937760" cy="365760"/>
          </a:xfrm>
          <a:prstGeom prst="rect">
            <a:avLst/>
          </a:prstGeom>
          <a:noFill/>
        </p:spPr>
        <p:txBody>
          <a:bodyPr wrap="square">
            <a:spAutoFit/>
          </a:bodyPr>
          <a:lstStyle/>
          <a:p>
            <a:pPr algn="l"/>
            <a:r>
              <a:rPr sz="1300" b="0">
                <a:solidFill>
                  <a:srgbClr val="2D323B"/>
                </a:solidFill>
                <a:latin typeface="Calibri"/>
              </a:rPr>
              <a:t>• No tracking of what was processed</a:t>
            </a:r>
          </a:p>
        </p:txBody>
      </p:sp>
      <p:sp>
        <p:nvSpPr>
          <p:cNvPr id="12" name="TextBox 11"/>
          <p:cNvSpPr txBox="1"/>
          <p:nvPr/>
        </p:nvSpPr>
        <p:spPr>
          <a:xfrm>
            <a:off x="548640" y="2825496"/>
            <a:ext cx="4937760" cy="365760"/>
          </a:xfrm>
          <a:prstGeom prst="rect">
            <a:avLst/>
          </a:prstGeom>
          <a:noFill/>
        </p:spPr>
        <p:txBody>
          <a:bodyPr wrap="square">
            <a:spAutoFit/>
          </a:bodyPr>
          <a:lstStyle/>
          <a:p>
            <a:pPr algn="l"/>
            <a:r>
              <a:rPr sz="1300" b="0">
                <a:solidFill>
                  <a:srgbClr val="2D323B"/>
                </a:solidFill>
                <a:latin typeface="Calibri"/>
              </a:rPr>
              <a:t>• Services started manually in sequence</a:t>
            </a:r>
          </a:p>
        </p:txBody>
      </p:sp>
      <p:sp>
        <p:nvSpPr>
          <p:cNvPr id="13" name="TextBox 12"/>
          <p:cNvSpPr txBox="1"/>
          <p:nvPr/>
        </p:nvSpPr>
        <p:spPr>
          <a:xfrm>
            <a:off x="548640" y="3218688"/>
            <a:ext cx="4937760" cy="365760"/>
          </a:xfrm>
          <a:prstGeom prst="rect">
            <a:avLst/>
          </a:prstGeom>
          <a:noFill/>
        </p:spPr>
        <p:txBody>
          <a:bodyPr wrap="square">
            <a:spAutoFit/>
          </a:bodyPr>
          <a:lstStyle/>
          <a:p>
            <a:pPr algn="l"/>
            <a:r>
              <a:rPr sz="1300" b="0">
                <a:solidFill>
                  <a:srgbClr val="2D323B"/>
                </a:solidFill>
                <a:latin typeface="Calibri"/>
              </a:rPr>
              <a:t>• Bronze consumers idle between runs</a:t>
            </a:r>
          </a:p>
        </p:txBody>
      </p:sp>
      <p:sp>
        <p:nvSpPr>
          <p:cNvPr id="14" name="Rectangle 13"/>
          <p:cNvSpPr/>
          <p:nvPr/>
        </p:nvSpPr>
        <p:spPr>
          <a:xfrm>
            <a:off x="6035040" y="1188720"/>
            <a:ext cx="5760720" cy="365760"/>
          </a:xfrm>
          <a:prstGeom prst="rect">
            <a:avLst/>
          </a:prstGeom>
          <a:solidFill>
            <a:srgbClr val="279A5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AFTER  (continuous)</a:t>
            </a:r>
          </a:p>
        </p:txBody>
      </p:sp>
      <p:sp>
        <p:nvSpPr>
          <p:cNvPr id="15" name="Rectangle 14"/>
          <p:cNvSpPr/>
          <p:nvPr/>
        </p:nvSpPr>
        <p:spPr>
          <a:xfrm>
            <a:off x="6035040" y="1554480"/>
            <a:ext cx="5760720" cy="2103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1645920"/>
            <a:ext cx="5394960" cy="365760"/>
          </a:xfrm>
          <a:prstGeom prst="rect">
            <a:avLst/>
          </a:prstGeom>
          <a:noFill/>
        </p:spPr>
        <p:txBody>
          <a:bodyPr wrap="square">
            <a:spAutoFit/>
          </a:bodyPr>
          <a:lstStyle/>
          <a:p>
            <a:pPr algn="l"/>
            <a:r>
              <a:rPr sz="1300" b="0">
                <a:solidFill>
                  <a:srgbClr val="2D323B"/>
                </a:solidFill>
                <a:latin typeface="Calibri"/>
              </a:rPr>
              <a:t>✅  EventBridge fires daily at 09:00 UTC</a:t>
            </a:r>
          </a:p>
        </p:txBody>
      </p:sp>
      <p:sp>
        <p:nvSpPr>
          <p:cNvPr id="17" name="TextBox 16"/>
          <p:cNvSpPr txBox="1"/>
          <p:nvPr/>
        </p:nvSpPr>
        <p:spPr>
          <a:xfrm>
            <a:off x="6217920" y="2039112"/>
            <a:ext cx="5394960" cy="365760"/>
          </a:xfrm>
          <a:prstGeom prst="rect">
            <a:avLst/>
          </a:prstGeom>
          <a:noFill/>
        </p:spPr>
        <p:txBody>
          <a:bodyPr wrap="square">
            <a:spAutoFit/>
          </a:bodyPr>
          <a:lstStyle/>
          <a:p>
            <a:pPr algn="l"/>
            <a:r>
              <a:rPr sz="1300" b="0">
                <a:solidFill>
                  <a:srgbClr val="2D323B"/>
                </a:solidFill>
                <a:latin typeface="Calibri"/>
              </a:rPr>
              <a:t>✅  HTTP HEAD → ETag check before download</a:t>
            </a:r>
          </a:p>
        </p:txBody>
      </p:sp>
      <p:sp>
        <p:nvSpPr>
          <p:cNvPr id="18" name="TextBox 17"/>
          <p:cNvSpPr txBox="1"/>
          <p:nvPr/>
        </p:nvSpPr>
        <p:spPr>
          <a:xfrm>
            <a:off x="6217920" y="2432304"/>
            <a:ext cx="5394960" cy="365760"/>
          </a:xfrm>
          <a:prstGeom prst="rect">
            <a:avLst/>
          </a:prstGeom>
          <a:noFill/>
        </p:spPr>
        <p:txBody>
          <a:bodyPr wrap="square">
            <a:spAutoFit/>
          </a:bodyPr>
          <a:lstStyle/>
          <a:p>
            <a:pPr algn="l"/>
            <a:r>
              <a:rPr sz="1300" b="0">
                <a:solidFill>
                  <a:srgbClr val="2D323B"/>
                </a:solidFill>
                <a:latin typeface="Calibri"/>
              </a:rPr>
              <a:t>✅  IngestionState: extracted → produced</a:t>
            </a:r>
          </a:p>
        </p:txBody>
      </p:sp>
      <p:sp>
        <p:nvSpPr>
          <p:cNvPr id="19" name="TextBox 18"/>
          <p:cNvSpPr txBox="1"/>
          <p:nvPr/>
        </p:nvSpPr>
        <p:spPr>
          <a:xfrm>
            <a:off x="6217920" y="2825496"/>
            <a:ext cx="5394960" cy="365760"/>
          </a:xfrm>
          <a:prstGeom prst="rect">
            <a:avLst/>
          </a:prstGeom>
          <a:noFill/>
        </p:spPr>
        <p:txBody>
          <a:bodyPr wrap="square">
            <a:spAutoFit/>
          </a:bodyPr>
          <a:lstStyle/>
          <a:p>
            <a:pPr algn="l"/>
            <a:r>
              <a:rPr sz="1300" b="0">
                <a:solidFill>
                  <a:srgbClr val="2D323B"/>
                </a:solidFill>
                <a:latin typeface="Calibri"/>
              </a:rPr>
              <a:t>✅  Step Functions chains downloader → producer</a:t>
            </a:r>
          </a:p>
        </p:txBody>
      </p:sp>
      <p:sp>
        <p:nvSpPr>
          <p:cNvPr id="20" name="TextBox 19"/>
          <p:cNvSpPr txBox="1"/>
          <p:nvPr/>
        </p:nvSpPr>
        <p:spPr>
          <a:xfrm>
            <a:off x="6217920" y="3218688"/>
            <a:ext cx="5394960" cy="365760"/>
          </a:xfrm>
          <a:prstGeom prst="rect">
            <a:avLst/>
          </a:prstGeom>
          <a:noFill/>
        </p:spPr>
        <p:txBody>
          <a:bodyPr wrap="square">
            <a:spAutoFit/>
          </a:bodyPr>
          <a:lstStyle/>
          <a:p>
            <a:pPr algn="l"/>
            <a:r>
              <a:rPr sz="1300" b="0">
                <a:solidFill>
                  <a:srgbClr val="2D323B"/>
                </a:solidFill>
                <a:latin typeface="Calibri"/>
              </a:rPr>
              <a:t>✅  Consumers always running, ready for messages</a:t>
            </a:r>
          </a:p>
        </p:txBody>
      </p:sp>
      <p:sp>
        <p:nvSpPr>
          <p:cNvPr id="21" name="Rectangle 20"/>
          <p:cNvSpPr/>
          <p:nvPr/>
        </p:nvSpPr>
        <p:spPr>
          <a:xfrm>
            <a:off x="365760" y="3840480"/>
            <a:ext cx="11430000" cy="36576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WHAT STAYS THE SAME — zero code changes in services</a:t>
            </a:r>
          </a:p>
        </p:txBody>
      </p:sp>
      <p:sp>
        <p:nvSpPr>
          <p:cNvPr id="22" name="Rectangle 21"/>
          <p:cNvSpPr/>
          <p:nvPr/>
        </p:nvSpPr>
        <p:spPr>
          <a:xfrm>
            <a:off x="365760" y="4206240"/>
            <a:ext cx="11430000" cy="23317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297680"/>
            <a:ext cx="5303520" cy="320040"/>
          </a:xfrm>
          <a:prstGeom prst="rect">
            <a:avLst/>
          </a:prstGeom>
          <a:noFill/>
        </p:spPr>
        <p:txBody>
          <a:bodyPr wrap="square">
            <a:spAutoFit/>
          </a:bodyPr>
          <a:lstStyle/>
          <a:p>
            <a:pPr algn="l"/>
            <a:r>
              <a:rPr sz="1400" b="1">
                <a:solidFill>
                  <a:srgbClr val="279A5E"/>
                </a:solidFill>
                <a:latin typeface="Calibri"/>
              </a:rPr>
              <a:t>✓  Bronze Consumer</a:t>
            </a:r>
          </a:p>
        </p:txBody>
      </p:sp>
      <p:sp>
        <p:nvSpPr>
          <p:cNvPr id="24" name="TextBox 23"/>
          <p:cNvSpPr txBox="1"/>
          <p:nvPr/>
        </p:nvSpPr>
        <p:spPr>
          <a:xfrm>
            <a:off x="548640" y="4617720"/>
            <a:ext cx="5303520" cy="594360"/>
          </a:xfrm>
          <a:prstGeom prst="rect">
            <a:avLst/>
          </a:prstGeom>
          <a:noFill/>
        </p:spPr>
        <p:txBody>
          <a:bodyPr wrap="square">
            <a:spAutoFit/>
          </a:bodyPr>
          <a:lstStyle/>
          <a:p>
            <a:pPr algn="l"/>
            <a:r>
              <a:rPr sz="1200" b="0">
                <a:solidFill>
                  <a:srgbClr val="2D323B"/>
                </a:solidFill>
                <a:latin typeface="Calibri"/>
              </a:rPr>
              <a:t>Always running, consumes any message that arrives on MSK</a:t>
            </a:r>
          </a:p>
        </p:txBody>
      </p:sp>
      <p:sp>
        <p:nvSpPr>
          <p:cNvPr id="25" name="TextBox 24"/>
          <p:cNvSpPr txBox="1"/>
          <p:nvPr/>
        </p:nvSpPr>
        <p:spPr>
          <a:xfrm>
            <a:off x="6217920" y="4297680"/>
            <a:ext cx="5303520" cy="320040"/>
          </a:xfrm>
          <a:prstGeom prst="rect">
            <a:avLst/>
          </a:prstGeom>
          <a:noFill/>
        </p:spPr>
        <p:txBody>
          <a:bodyPr wrap="square">
            <a:spAutoFit/>
          </a:bodyPr>
          <a:lstStyle/>
          <a:p>
            <a:pPr algn="l"/>
            <a:r>
              <a:rPr sz="1400" b="1">
                <a:solidFill>
                  <a:srgbClr val="279A5E"/>
                </a:solidFill>
                <a:latin typeface="Calibri"/>
              </a:rPr>
              <a:t>✓  Silver Transformer</a:t>
            </a:r>
          </a:p>
        </p:txBody>
      </p:sp>
      <p:sp>
        <p:nvSpPr>
          <p:cNvPr id="26" name="TextBox 25"/>
          <p:cNvSpPr txBox="1"/>
          <p:nvPr/>
        </p:nvSpPr>
        <p:spPr>
          <a:xfrm>
            <a:off x="6217920" y="4617720"/>
            <a:ext cx="5303520" cy="594360"/>
          </a:xfrm>
          <a:prstGeom prst="rect">
            <a:avLst/>
          </a:prstGeom>
          <a:noFill/>
        </p:spPr>
        <p:txBody>
          <a:bodyPr wrap="square">
            <a:spAutoFit/>
          </a:bodyPr>
          <a:lstStyle/>
          <a:p>
            <a:pPr algn="l"/>
            <a:r>
              <a:rPr sz="1200" b="0">
                <a:solidFill>
                  <a:srgbClr val="2D323B"/>
                </a:solidFill>
                <a:latin typeface="Calibri"/>
              </a:rPr>
              <a:t>Reads bronze, deduplicates, writes silver — unaffected by trigger</a:t>
            </a:r>
          </a:p>
        </p:txBody>
      </p:sp>
      <p:sp>
        <p:nvSpPr>
          <p:cNvPr id="27" name="TextBox 26"/>
          <p:cNvSpPr txBox="1"/>
          <p:nvPr/>
        </p:nvSpPr>
        <p:spPr>
          <a:xfrm>
            <a:off x="548640" y="5303520"/>
            <a:ext cx="5303520" cy="320040"/>
          </a:xfrm>
          <a:prstGeom prst="rect">
            <a:avLst/>
          </a:prstGeom>
          <a:noFill/>
        </p:spPr>
        <p:txBody>
          <a:bodyPr wrap="square">
            <a:spAutoFit/>
          </a:bodyPr>
          <a:lstStyle/>
          <a:p>
            <a:pPr algn="l"/>
            <a:r>
              <a:rPr sz="1400" b="1">
                <a:solidFill>
                  <a:srgbClr val="279A5E"/>
                </a:solidFill>
                <a:latin typeface="Calibri"/>
              </a:rPr>
              <a:t>✓  Athena Serve Layer</a:t>
            </a:r>
          </a:p>
        </p:txBody>
      </p:sp>
      <p:sp>
        <p:nvSpPr>
          <p:cNvPr id="28" name="TextBox 27"/>
          <p:cNvSpPr txBox="1"/>
          <p:nvPr/>
        </p:nvSpPr>
        <p:spPr>
          <a:xfrm>
            <a:off x="548640" y="5623560"/>
            <a:ext cx="5303520" cy="594360"/>
          </a:xfrm>
          <a:prstGeom prst="rect">
            <a:avLst/>
          </a:prstGeom>
          <a:noFill/>
        </p:spPr>
        <p:txBody>
          <a:bodyPr wrap="square">
            <a:spAutoFit/>
          </a:bodyPr>
          <a:lstStyle/>
          <a:p>
            <a:pPr algn="l"/>
            <a:r>
              <a:rPr sz="1200" b="0">
                <a:solidFill>
                  <a:srgbClr val="2D323B"/>
                </a:solidFill>
                <a:latin typeface="Calibri"/>
              </a:rPr>
              <a:t>Tables are live — queries work immediately after new data lands</a:t>
            </a:r>
          </a:p>
        </p:txBody>
      </p:sp>
      <p:sp>
        <p:nvSpPr>
          <p:cNvPr id="29" name="TextBox 28"/>
          <p:cNvSpPr txBox="1"/>
          <p:nvPr/>
        </p:nvSpPr>
        <p:spPr>
          <a:xfrm>
            <a:off x="6217920" y="5303520"/>
            <a:ext cx="5303520" cy="320040"/>
          </a:xfrm>
          <a:prstGeom prst="rect">
            <a:avLst/>
          </a:prstGeom>
          <a:noFill/>
        </p:spPr>
        <p:txBody>
          <a:bodyPr wrap="square">
            <a:spAutoFit/>
          </a:bodyPr>
          <a:lstStyle/>
          <a:p>
            <a:pPr algn="l"/>
            <a:r>
              <a:rPr sz="1400" b="1">
                <a:solidFill>
                  <a:srgbClr val="279A5E"/>
                </a:solidFill>
                <a:latin typeface="Calibri"/>
              </a:rPr>
              <a:t>✓  Dedup logic</a:t>
            </a:r>
          </a:p>
        </p:txBody>
      </p:sp>
      <p:sp>
        <p:nvSpPr>
          <p:cNvPr id="30" name="TextBox 29"/>
          <p:cNvSpPr txBox="1"/>
          <p:nvPr/>
        </p:nvSpPr>
        <p:spPr>
          <a:xfrm>
            <a:off x="6217920" y="5623560"/>
            <a:ext cx="5303520" cy="594360"/>
          </a:xfrm>
          <a:prstGeom prst="rect">
            <a:avLst/>
          </a:prstGeom>
          <a:noFill/>
        </p:spPr>
        <p:txBody>
          <a:bodyPr wrap="square">
            <a:spAutoFit/>
          </a:bodyPr>
          <a:lstStyle/>
          <a:p>
            <a:pPr algn="l"/>
            <a:r>
              <a:rPr sz="1200" b="0">
                <a:solidFill>
                  <a:srgbClr val="2D323B"/>
                </a:solidFill>
                <a:latin typeface="Calibri"/>
              </a:rPr>
              <a:t>source_kafka_offset prevents duplicates even on full-dataset replays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57432" cy="548640"/>
          </a:xfrm>
          <a:prstGeom prst="rect">
            <a:avLst/>
          </a:prstGeom>
          <a:noFill/>
        </p:spPr>
        <p:txBody>
          <a:bodyPr wrap="square">
            <a:spAutoFit/>
          </a:bodyPr>
          <a:lstStyle/>
          <a:p>
            <a:pPr algn="l"/>
            <a:r>
              <a:rPr sz="2800" b="1">
                <a:solidFill>
                  <a:srgbClr val="FFFFFF"/>
                </a:solidFill>
                <a:latin typeface="Calibri"/>
              </a:rPr>
              <a:t>Key Design Decisions</a:t>
            </a:r>
          </a:p>
        </p:txBody>
      </p:sp>
      <p:sp>
        <p:nvSpPr>
          <p:cNvPr id="5" name="TextBox 4"/>
          <p:cNvSpPr txBox="1"/>
          <p:nvPr/>
        </p:nvSpPr>
        <p:spPr>
          <a:xfrm>
            <a:off x="365760" y="594360"/>
            <a:ext cx="11457432" cy="347472"/>
          </a:xfrm>
          <a:prstGeom prst="rect">
            <a:avLst/>
          </a:prstGeom>
          <a:noFill/>
        </p:spPr>
        <p:txBody>
          <a:bodyPr wrap="square">
            <a:spAutoFit/>
          </a:bodyPr>
          <a:lstStyle/>
          <a:p>
            <a:pPr algn="l"/>
            <a:r>
              <a:rPr sz="1400" b="0">
                <a:solidFill>
                  <a:srgbClr val="00AAD4"/>
                </a:solidFill>
                <a:latin typeface="Calibri"/>
              </a:rPr>
              <a:t>Every choice has a clear rationale — and a documented trade-off</a:t>
            </a:r>
          </a:p>
        </p:txBody>
      </p:sp>
      <p:sp>
        <p:nvSpPr>
          <p:cNvPr id="6" name="Rectangle 5"/>
          <p:cNvSpPr/>
          <p:nvPr/>
        </p:nvSpPr>
        <p:spPr>
          <a:xfrm>
            <a:off x="0" y="1005840"/>
            <a:ext cx="12188952" cy="36576"/>
          </a:xfrm>
          <a:prstGeom prst="rect">
            <a:avLst/>
          </a:prstGeom>
          <a:solidFill>
            <a:srgbClr val="E8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2880" y="1143000"/>
            <a:ext cx="2286000" cy="3200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DECISION</a:t>
            </a:r>
          </a:p>
        </p:txBody>
      </p:sp>
      <p:sp>
        <p:nvSpPr>
          <p:cNvPr id="8" name="Rectangle 7"/>
          <p:cNvSpPr/>
          <p:nvPr/>
        </p:nvSpPr>
        <p:spPr>
          <a:xfrm>
            <a:off x="2514600" y="1143000"/>
            <a:ext cx="5486400" cy="3200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CHOICE &amp; RATIONALE</a:t>
            </a:r>
          </a:p>
        </p:txBody>
      </p:sp>
      <p:sp>
        <p:nvSpPr>
          <p:cNvPr id="9" name="Rectangle 8"/>
          <p:cNvSpPr/>
          <p:nvPr/>
        </p:nvSpPr>
        <p:spPr>
          <a:xfrm>
            <a:off x="8046720" y="1143000"/>
            <a:ext cx="3931920" cy="3200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ALTERNATIVE CONSIDERED</a:t>
            </a:r>
          </a:p>
        </p:txBody>
      </p:sp>
      <p:sp>
        <p:nvSpPr>
          <p:cNvPr id="10" name="Rectangle 9"/>
          <p:cNvSpPr/>
          <p:nvPr/>
        </p:nvSpPr>
        <p:spPr>
          <a:xfrm>
            <a:off x="182880" y="1463040"/>
            <a:ext cx="2286000" cy="914400"/>
          </a:xfrm>
          <a:prstGeom prst="rect">
            <a:avLst/>
          </a:prstGeom>
          <a:solidFill>
            <a:srgbClr val="F4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14600" y="1463040"/>
            <a:ext cx="5486400" cy="914400"/>
          </a:xfrm>
          <a:prstGeom prst="rect">
            <a:avLst/>
          </a:prstGeom>
          <a:solidFill>
            <a:srgbClr val="F4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46720" y="1463040"/>
            <a:ext cx="3931920" cy="914400"/>
          </a:xfrm>
          <a:prstGeom prst="rect">
            <a:avLst/>
          </a:prstGeom>
          <a:solidFill>
            <a:srgbClr val="F4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1536192"/>
            <a:ext cx="2148840" cy="777240"/>
          </a:xfrm>
          <a:prstGeom prst="rect">
            <a:avLst/>
          </a:prstGeom>
          <a:noFill/>
        </p:spPr>
        <p:txBody>
          <a:bodyPr wrap="square">
            <a:spAutoFit/>
          </a:bodyPr>
          <a:lstStyle/>
          <a:p>
            <a:pPr algn="l"/>
            <a:r>
              <a:rPr sz="1200" b="1">
                <a:solidFill>
                  <a:srgbClr val="002B5C"/>
                </a:solidFill>
                <a:latin typeface="Calibri"/>
              </a:rPr>
              <a:t>Why Kafka / MSK?</a:t>
            </a:r>
          </a:p>
        </p:txBody>
      </p:sp>
      <p:sp>
        <p:nvSpPr>
          <p:cNvPr id="14" name="TextBox 13"/>
          <p:cNvSpPr txBox="1"/>
          <p:nvPr/>
        </p:nvSpPr>
        <p:spPr>
          <a:xfrm>
            <a:off x="2606040" y="1536192"/>
            <a:ext cx="5349240" cy="777240"/>
          </a:xfrm>
          <a:prstGeom prst="rect">
            <a:avLst/>
          </a:prstGeom>
          <a:noFill/>
        </p:spPr>
        <p:txBody>
          <a:bodyPr wrap="square">
            <a:spAutoFit/>
          </a:bodyPr>
          <a:lstStyle/>
          <a:p>
            <a:pPr algn="l"/>
            <a:r>
              <a:rPr sz="1100" b="0">
                <a:solidFill>
                  <a:srgbClr val="2D323B"/>
                </a:solidFill>
                <a:latin typeface="Calibri"/>
              </a:rPr>
              <a:t>Decouples batch producer from streaming consumers.
Replay, exactly-once guarantee, future fan-out to N consumers.</a:t>
            </a:r>
          </a:p>
        </p:txBody>
      </p:sp>
      <p:sp>
        <p:nvSpPr>
          <p:cNvPr id="15" name="TextBox 14"/>
          <p:cNvSpPr txBox="1"/>
          <p:nvPr/>
        </p:nvSpPr>
        <p:spPr>
          <a:xfrm>
            <a:off x="8138160" y="1536192"/>
            <a:ext cx="3794759" cy="777240"/>
          </a:xfrm>
          <a:prstGeom prst="rect">
            <a:avLst/>
          </a:prstGeom>
          <a:noFill/>
        </p:spPr>
        <p:txBody>
          <a:bodyPr wrap="square">
            <a:spAutoFit/>
          </a:bodyPr>
          <a:lstStyle/>
          <a:p>
            <a:pPr algn="l"/>
            <a:r>
              <a:rPr sz="1100" b="0">
                <a:solidFill>
                  <a:srgbClr val="6B7280"/>
                </a:solidFill>
                <a:latin typeface="Calibri"/>
              </a:rPr>
              <a:t>Direct S3 → Lambda: simpler but no replay, no back-pressure.</a:t>
            </a:r>
          </a:p>
        </p:txBody>
      </p:sp>
      <p:sp>
        <p:nvSpPr>
          <p:cNvPr id="16" name="Rectangle 15"/>
          <p:cNvSpPr/>
          <p:nvPr/>
        </p:nvSpPr>
        <p:spPr>
          <a:xfrm>
            <a:off x="182880" y="2395728"/>
            <a:ext cx="2286000" cy="914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14600" y="2395728"/>
            <a:ext cx="5486400" cy="914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6720" y="2395728"/>
            <a:ext cx="3931920" cy="914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2468880"/>
            <a:ext cx="2148840" cy="777240"/>
          </a:xfrm>
          <a:prstGeom prst="rect">
            <a:avLst/>
          </a:prstGeom>
          <a:noFill/>
        </p:spPr>
        <p:txBody>
          <a:bodyPr wrap="square">
            <a:spAutoFit/>
          </a:bodyPr>
          <a:lstStyle/>
          <a:p>
            <a:pPr algn="l"/>
            <a:r>
              <a:rPr sz="1200" b="1">
                <a:solidFill>
                  <a:srgbClr val="002B5C"/>
                </a:solidFill>
                <a:latin typeface="Calibri"/>
              </a:rPr>
              <a:t>Why Iceberg (not Parquet flat)?</a:t>
            </a:r>
          </a:p>
        </p:txBody>
      </p:sp>
      <p:sp>
        <p:nvSpPr>
          <p:cNvPr id="20" name="TextBox 19"/>
          <p:cNvSpPr txBox="1"/>
          <p:nvPr/>
        </p:nvSpPr>
        <p:spPr>
          <a:xfrm>
            <a:off x="2606040" y="2468880"/>
            <a:ext cx="5349240" cy="777240"/>
          </a:xfrm>
          <a:prstGeom prst="rect">
            <a:avLst/>
          </a:prstGeom>
          <a:noFill/>
        </p:spPr>
        <p:txBody>
          <a:bodyPr wrap="square">
            <a:spAutoFit/>
          </a:bodyPr>
          <a:lstStyle/>
          <a:p>
            <a:pPr algn="l"/>
            <a:r>
              <a:rPr sz="1100" b="0">
                <a:solidFill>
                  <a:srgbClr val="2D323B"/>
                </a:solidFill>
                <a:latin typeface="Calibri"/>
              </a:rPr>
              <a:t>ACID writes, schema evolution, time travel, partition pruning.
Athena Engine v3 reads it natively — zero glue code needed.</a:t>
            </a:r>
          </a:p>
        </p:txBody>
      </p:sp>
      <p:sp>
        <p:nvSpPr>
          <p:cNvPr id="21" name="TextBox 20"/>
          <p:cNvSpPr txBox="1"/>
          <p:nvPr/>
        </p:nvSpPr>
        <p:spPr>
          <a:xfrm>
            <a:off x="8138160" y="2468880"/>
            <a:ext cx="3794759" cy="777240"/>
          </a:xfrm>
          <a:prstGeom prst="rect">
            <a:avLst/>
          </a:prstGeom>
          <a:noFill/>
        </p:spPr>
        <p:txBody>
          <a:bodyPr wrap="square">
            <a:spAutoFit/>
          </a:bodyPr>
          <a:lstStyle/>
          <a:p>
            <a:pPr algn="l"/>
            <a:r>
              <a:rPr sz="1100" b="0">
                <a:solidFill>
                  <a:srgbClr val="6B7280"/>
                </a:solidFill>
                <a:latin typeface="Calibri"/>
              </a:rPr>
              <a:t>Delta Lake or Hudi: similar features, more complex Athena setup.</a:t>
            </a:r>
          </a:p>
        </p:txBody>
      </p:sp>
      <p:sp>
        <p:nvSpPr>
          <p:cNvPr id="22" name="Rectangle 21"/>
          <p:cNvSpPr/>
          <p:nvPr/>
        </p:nvSpPr>
        <p:spPr>
          <a:xfrm>
            <a:off x="182880" y="3328416"/>
            <a:ext cx="2286000" cy="914400"/>
          </a:xfrm>
          <a:prstGeom prst="rect">
            <a:avLst/>
          </a:prstGeom>
          <a:solidFill>
            <a:srgbClr val="F4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514600" y="3328416"/>
            <a:ext cx="5486400" cy="914400"/>
          </a:xfrm>
          <a:prstGeom prst="rect">
            <a:avLst/>
          </a:prstGeom>
          <a:solidFill>
            <a:srgbClr val="F4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46720" y="3328416"/>
            <a:ext cx="3931920" cy="914400"/>
          </a:xfrm>
          <a:prstGeom prst="rect">
            <a:avLst/>
          </a:prstGeom>
          <a:solidFill>
            <a:srgbClr val="F4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4320" y="3401568"/>
            <a:ext cx="2148840" cy="777240"/>
          </a:xfrm>
          <a:prstGeom prst="rect">
            <a:avLst/>
          </a:prstGeom>
          <a:noFill/>
        </p:spPr>
        <p:txBody>
          <a:bodyPr wrap="square">
            <a:spAutoFit/>
          </a:bodyPr>
          <a:lstStyle/>
          <a:p>
            <a:pPr algn="l"/>
            <a:r>
              <a:rPr sz="1200" b="1">
                <a:solidFill>
                  <a:srgbClr val="002B5C"/>
                </a:solidFill>
                <a:latin typeface="Calibri"/>
              </a:rPr>
              <a:t>Why Python (not Spark)?</a:t>
            </a:r>
          </a:p>
        </p:txBody>
      </p:sp>
      <p:sp>
        <p:nvSpPr>
          <p:cNvPr id="26" name="TextBox 25"/>
          <p:cNvSpPr txBox="1"/>
          <p:nvPr/>
        </p:nvSpPr>
        <p:spPr>
          <a:xfrm>
            <a:off x="2606040" y="3401568"/>
            <a:ext cx="5349240" cy="777240"/>
          </a:xfrm>
          <a:prstGeom prst="rect">
            <a:avLst/>
          </a:prstGeom>
          <a:noFill/>
        </p:spPr>
        <p:txBody>
          <a:bodyPr wrap="square">
            <a:spAutoFit/>
          </a:bodyPr>
          <a:lstStyle/>
          <a:p>
            <a:pPr algn="l"/>
            <a:r>
              <a:rPr sz="1100" b="0">
                <a:solidFill>
                  <a:srgbClr val="2D323B"/>
                </a:solidFill>
                <a:latin typeface="Calibri"/>
              </a:rPr>
              <a:t>2M rows/day is not big data. Python + Kafka = sufficient.
Simple to deploy on ECS Fargate, no cluster cost.</a:t>
            </a:r>
          </a:p>
        </p:txBody>
      </p:sp>
      <p:sp>
        <p:nvSpPr>
          <p:cNvPr id="27" name="TextBox 26"/>
          <p:cNvSpPr txBox="1"/>
          <p:nvPr/>
        </p:nvSpPr>
        <p:spPr>
          <a:xfrm>
            <a:off x="8138160" y="3401568"/>
            <a:ext cx="3794759" cy="777240"/>
          </a:xfrm>
          <a:prstGeom prst="rect">
            <a:avLst/>
          </a:prstGeom>
          <a:noFill/>
        </p:spPr>
        <p:txBody>
          <a:bodyPr wrap="square">
            <a:spAutoFit/>
          </a:bodyPr>
          <a:lstStyle/>
          <a:p>
            <a:pPr algn="l"/>
            <a:r>
              <a:rPr sz="1100" b="0">
                <a:solidFill>
                  <a:srgbClr val="6B7280"/>
                </a:solidFill>
                <a:latin typeface="Calibri"/>
              </a:rPr>
              <a:t>Spark: justified at 100M+ rows or complex SQL transformations.</a:t>
            </a:r>
          </a:p>
        </p:txBody>
      </p:sp>
      <p:sp>
        <p:nvSpPr>
          <p:cNvPr id="28" name="Rectangle 27"/>
          <p:cNvSpPr/>
          <p:nvPr/>
        </p:nvSpPr>
        <p:spPr>
          <a:xfrm>
            <a:off x="182880" y="4261104"/>
            <a:ext cx="2286000" cy="914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14600" y="4261104"/>
            <a:ext cx="5486400" cy="914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046720" y="4261104"/>
            <a:ext cx="3931920" cy="914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4320" y="4334256"/>
            <a:ext cx="2148840" cy="777240"/>
          </a:xfrm>
          <a:prstGeom prst="rect">
            <a:avLst/>
          </a:prstGeom>
          <a:noFill/>
        </p:spPr>
        <p:txBody>
          <a:bodyPr wrap="square">
            <a:spAutoFit/>
          </a:bodyPr>
          <a:lstStyle/>
          <a:p>
            <a:pPr algn="l"/>
            <a:r>
              <a:rPr sz="1200" b="1">
                <a:solidFill>
                  <a:srgbClr val="002B5C"/>
                </a:solidFill>
                <a:latin typeface="Calibri"/>
              </a:rPr>
              <a:t>Why Pydantic + Decimal?</a:t>
            </a:r>
          </a:p>
        </p:txBody>
      </p:sp>
      <p:sp>
        <p:nvSpPr>
          <p:cNvPr id="32" name="TextBox 31"/>
          <p:cNvSpPr txBox="1"/>
          <p:nvPr/>
        </p:nvSpPr>
        <p:spPr>
          <a:xfrm>
            <a:off x="2606040" y="4334256"/>
            <a:ext cx="5349240" cy="777240"/>
          </a:xfrm>
          <a:prstGeom prst="rect">
            <a:avLst/>
          </a:prstGeom>
          <a:noFill/>
        </p:spPr>
        <p:txBody>
          <a:bodyPr wrap="square">
            <a:spAutoFit/>
          </a:bodyPr>
          <a:lstStyle/>
          <a:p>
            <a:pPr algn="l"/>
            <a:r>
              <a:rPr sz="1100" b="0">
                <a:solidFill>
                  <a:srgbClr val="2D323B"/>
                </a:solidFill>
                <a:latin typeface="Calibri"/>
              </a:rPr>
              <a:t>Type safety at the boundary: CSV strings → typed models.
Decimal(18,4) avoids IEEE-754 rounding in financial aggregations.</a:t>
            </a:r>
          </a:p>
        </p:txBody>
      </p:sp>
      <p:sp>
        <p:nvSpPr>
          <p:cNvPr id="33" name="TextBox 32"/>
          <p:cNvSpPr txBox="1"/>
          <p:nvPr/>
        </p:nvSpPr>
        <p:spPr>
          <a:xfrm>
            <a:off x="8138160" y="4334256"/>
            <a:ext cx="3794759" cy="777240"/>
          </a:xfrm>
          <a:prstGeom prst="rect">
            <a:avLst/>
          </a:prstGeom>
          <a:noFill/>
        </p:spPr>
        <p:txBody>
          <a:bodyPr wrap="square">
            <a:spAutoFit/>
          </a:bodyPr>
          <a:lstStyle/>
          <a:p>
            <a:pPr algn="l"/>
            <a:r>
              <a:rPr sz="1100" b="0">
                <a:solidFill>
                  <a:srgbClr val="6B7280"/>
                </a:solidFill>
                <a:latin typeface="Calibri"/>
              </a:rPr>
              <a:t>Dataclasses: no validation. Pandera: more overhead, less portable.</a:t>
            </a:r>
          </a:p>
        </p:txBody>
      </p:sp>
      <p:sp>
        <p:nvSpPr>
          <p:cNvPr id="34" name="Rectangle 33"/>
          <p:cNvSpPr/>
          <p:nvPr/>
        </p:nvSpPr>
        <p:spPr>
          <a:xfrm>
            <a:off x="182880" y="5193792"/>
            <a:ext cx="2286000" cy="914400"/>
          </a:xfrm>
          <a:prstGeom prst="rect">
            <a:avLst/>
          </a:prstGeom>
          <a:solidFill>
            <a:srgbClr val="F4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514600" y="5193792"/>
            <a:ext cx="5486400" cy="914400"/>
          </a:xfrm>
          <a:prstGeom prst="rect">
            <a:avLst/>
          </a:prstGeom>
          <a:solidFill>
            <a:srgbClr val="F4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46720" y="5193792"/>
            <a:ext cx="3931920" cy="914400"/>
          </a:xfrm>
          <a:prstGeom prst="rect">
            <a:avLst/>
          </a:prstGeom>
          <a:solidFill>
            <a:srgbClr val="F4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74320" y="5266944"/>
            <a:ext cx="2148840" cy="777240"/>
          </a:xfrm>
          <a:prstGeom prst="rect">
            <a:avLst/>
          </a:prstGeom>
          <a:noFill/>
        </p:spPr>
        <p:txBody>
          <a:bodyPr wrap="square">
            <a:spAutoFit/>
          </a:bodyPr>
          <a:lstStyle/>
          <a:p>
            <a:pPr algn="l"/>
            <a:r>
              <a:rPr sz="1200" b="1">
                <a:solidFill>
                  <a:srgbClr val="002B5C"/>
                </a:solidFill>
                <a:latin typeface="Calibri"/>
              </a:rPr>
              <a:t>Why at-least-once + dedup?</a:t>
            </a:r>
          </a:p>
        </p:txBody>
      </p:sp>
      <p:sp>
        <p:nvSpPr>
          <p:cNvPr id="38" name="TextBox 37"/>
          <p:cNvSpPr txBox="1"/>
          <p:nvPr/>
        </p:nvSpPr>
        <p:spPr>
          <a:xfrm>
            <a:off x="2606040" y="5266944"/>
            <a:ext cx="5349240" cy="777240"/>
          </a:xfrm>
          <a:prstGeom prst="rect">
            <a:avLst/>
          </a:prstGeom>
          <a:noFill/>
        </p:spPr>
        <p:txBody>
          <a:bodyPr wrap="square">
            <a:spAutoFit/>
          </a:bodyPr>
          <a:lstStyle/>
          <a:p>
            <a:pPr algn="l"/>
            <a:r>
              <a:rPr sz="1100" b="0">
                <a:solidFill>
                  <a:srgbClr val="2D323B"/>
                </a:solidFill>
                <a:latin typeface="Calibri"/>
              </a:rPr>
              <a:t>Simpler than exactly-once. Kafka exactly-once requires
idempotent producer + transactional consumer = more complexity.</a:t>
            </a:r>
          </a:p>
        </p:txBody>
      </p:sp>
      <p:sp>
        <p:nvSpPr>
          <p:cNvPr id="39" name="TextBox 38"/>
          <p:cNvSpPr txBox="1"/>
          <p:nvPr/>
        </p:nvSpPr>
        <p:spPr>
          <a:xfrm>
            <a:off x="8138160" y="5266944"/>
            <a:ext cx="3794759" cy="777240"/>
          </a:xfrm>
          <a:prstGeom prst="rect">
            <a:avLst/>
          </a:prstGeom>
          <a:noFill/>
        </p:spPr>
        <p:txBody>
          <a:bodyPr wrap="square">
            <a:spAutoFit/>
          </a:bodyPr>
          <a:lstStyle/>
          <a:p>
            <a:pPr algn="l"/>
            <a:r>
              <a:rPr sz="1100" b="0">
                <a:solidFill>
                  <a:srgbClr val="6B7280"/>
                </a:solidFill>
                <a:latin typeface="Calibri"/>
              </a:rPr>
              <a:t>If dedup scan at startup is too slow: use a Redis set or DynamoDB.</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57432" cy="548640"/>
          </a:xfrm>
          <a:prstGeom prst="rect">
            <a:avLst/>
          </a:prstGeom>
          <a:noFill/>
        </p:spPr>
        <p:txBody>
          <a:bodyPr wrap="square">
            <a:spAutoFit/>
          </a:bodyPr>
          <a:lstStyle/>
          <a:p>
            <a:pPr algn="l"/>
            <a:r>
              <a:rPr sz="2800" b="1">
                <a:solidFill>
                  <a:srgbClr val="FFFFFF"/>
                </a:solidFill>
                <a:latin typeface="Calibri"/>
              </a:rPr>
              <a:t>Project Structure</a:t>
            </a:r>
          </a:p>
        </p:txBody>
      </p:sp>
      <p:sp>
        <p:nvSpPr>
          <p:cNvPr id="5" name="TextBox 4"/>
          <p:cNvSpPr txBox="1"/>
          <p:nvPr/>
        </p:nvSpPr>
        <p:spPr>
          <a:xfrm>
            <a:off x="365760" y="594360"/>
            <a:ext cx="11457432" cy="347472"/>
          </a:xfrm>
          <a:prstGeom prst="rect">
            <a:avLst/>
          </a:prstGeom>
          <a:noFill/>
        </p:spPr>
        <p:txBody>
          <a:bodyPr wrap="square">
            <a:spAutoFit/>
          </a:bodyPr>
          <a:lstStyle/>
          <a:p>
            <a:pPr algn="l"/>
            <a:r>
              <a:rPr sz="1400" b="0">
                <a:solidFill>
                  <a:srgbClr val="00AAD4"/>
                </a:solidFill>
                <a:latin typeface="Calibri"/>
              </a:rPr>
              <a:t>Monorepo · Shared package · 4 services · Tests · IaC</a:t>
            </a:r>
          </a:p>
        </p:txBody>
      </p:sp>
      <p:sp>
        <p:nvSpPr>
          <p:cNvPr id="6" name="Rectangle 5"/>
          <p:cNvSpPr/>
          <p:nvPr/>
        </p:nvSpPr>
        <p:spPr>
          <a:xfrm>
            <a:off x="0" y="1005840"/>
            <a:ext cx="12188952" cy="36576"/>
          </a:xfrm>
          <a:prstGeom prst="rect">
            <a:avLst/>
          </a:prstGeom>
          <a:solidFill>
            <a:srgbClr val="E8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143000"/>
            <a:ext cx="5029200" cy="5394960"/>
          </a:xfrm>
          <a:prstGeom prst="rect">
            <a:avLst/>
          </a:prstGeom>
          <a:solidFill>
            <a:srgbClr val="2D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234440"/>
            <a:ext cx="4846320" cy="5212080"/>
          </a:xfrm>
          <a:prstGeom prst="rect">
            <a:avLst/>
          </a:prstGeom>
          <a:noFill/>
        </p:spPr>
        <p:txBody>
          <a:bodyPr wrap="square">
            <a:spAutoFit/>
          </a:bodyPr>
          <a:lstStyle/>
          <a:p>
            <a:pPr algn="l"/>
            <a:r>
              <a:rPr sz="950" b="0">
                <a:solidFill>
                  <a:srgbClr val="F4F7FA"/>
                </a:solidFill>
                <a:latin typeface="Calibri"/>
              </a:rPr>
              <a:t>economics-data-ingestion/
├── packages/
│   └── economics_pipeline/
│       ├── models/        # Pydantic: SalesRecord, BronzeRecord, SilverRecord
│       ├── config/        # PipelineSettings (pydantic-settings, .env.*)
│       ├── dao/           # Local* + Cloud* writers (Iceberg/PyIceberg)
│       ├── kafka/         # SalesProducer, BronzeConsumer
│       ├── transforms/    # transform_to_silver() — pure function
│       ├── exceptions/    # PipelineError hierarchy
│       ├── retry/         # @network_retry @kafka_retry @storage_retry
│       └── ingestion/     # IngestionStateManager (ETag tracking)
├── services/
│   ├── downloader/        # Fetch → archive/ → landing/
│   ├── producer/          # landing/ → MSK topic
│   ├── consumer_bronze/   # MSK → Iceberg bronze
│   ├── transformer_silver/# bronze → Iceberg silver
│   └── scheduler/         # Daily 09h trigger (local dev)
├── tests/
│   ├── unit/              # 95 tests, no external dependencies
│   ├── integration/       # @pytest.mark.integration
│   └── e2e/               # @pytest.mark.e2e
└── infra/
    └── modules/           # networking · s3 · msk · glue · athena · iam · scheduler</a:t>
            </a:r>
          </a:p>
        </p:txBody>
      </p:sp>
      <p:sp>
        <p:nvSpPr>
          <p:cNvPr id="9" name="Rectangle 8"/>
          <p:cNvSpPr/>
          <p:nvPr/>
        </p:nvSpPr>
        <p:spPr>
          <a:xfrm>
            <a:off x="5669280" y="1143000"/>
            <a:ext cx="6126480" cy="347472"/>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BY THE NUMBERS</a:t>
            </a:r>
          </a:p>
        </p:txBody>
      </p:sp>
      <p:sp>
        <p:nvSpPr>
          <p:cNvPr id="10" name="Rectangle 9"/>
          <p:cNvSpPr/>
          <p:nvPr/>
        </p:nvSpPr>
        <p:spPr>
          <a:xfrm>
            <a:off x="5669280" y="1554480"/>
            <a:ext cx="6126480" cy="914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06440" y="1627632"/>
            <a:ext cx="1371600" cy="502920"/>
          </a:xfrm>
          <a:prstGeom prst="rect">
            <a:avLst/>
          </a:prstGeom>
          <a:noFill/>
        </p:spPr>
        <p:txBody>
          <a:bodyPr wrap="square">
            <a:spAutoFit/>
          </a:bodyPr>
          <a:lstStyle/>
          <a:p>
            <a:pPr algn="l"/>
            <a:r>
              <a:rPr sz="3000" b="1">
                <a:solidFill>
                  <a:srgbClr val="002B5C"/>
                </a:solidFill>
                <a:latin typeface="Calibri"/>
              </a:rPr>
              <a:t>95</a:t>
            </a:r>
          </a:p>
        </p:txBody>
      </p:sp>
      <p:sp>
        <p:nvSpPr>
          <p:cNvPr id="12" name="TextBox 11"/>
          <p:cNvSpPr txBox="1"/>
          <p:nvPr/>
        </p:nvSpPr>
        <p:spPr>
          <a:xfrm>
            <a:off x="7223760" y="1691639"/>
            <a:ext cx="4389120" cy="320040"/>
          </a:xfrm>
          <a:prstGeom prst="rect">
            <a:avLst/>
          </a:prstGeom>
          <a:noFill/>
        </p:spPr>
        <p:txBody>
          <a:bodyPr wrap="square">
            <a:spAutoFit/>
          </a:bodyPr>
          <a:lstStyle/>
          <a:p>
            <a:pPr algn="l"/>
            <a:r>
              <a:rPr sz="1500" b="1">
                <a:solidFill>
                  <a:srgbClr val="2D323B"/>
                </a:solidFill>
                <a:latin typeface="Calibri"/>
              </a:rPr>
              <a:t>unit tests passing</a:t>
            </a:r>
          </a:p>
        </p:txBody>
      </p:sp>
      <p:sp>
        <p:nvSpPr>
          <p:cNvPr id="13" name="TextBox 12"/>
          <p:cNvSpPr txBox="1"/>
          <p:nvPr/>
        </p:nvSpPr>
        <p:spPr>
          <a:xfrm>
            <a:off x="7223760" y="2011680"/>
            <a:ext cx="4389120" cy="320040"/>
          </a:xfrm>
          <a:prstGeom prst="rect">
            <a:avLst/>
          </a:prstGeom>
          <a:noFill/>
        </p:spPr>
        <p:txBody>
          <a:bodyPr wrap="square">
            <a:spAutoFit/>
          </a:bodyPr>
          <a:lstStyle/>
          <a:p>
            <a:pPr algn="l"/>
            <a:r>
              <a:rPr sz="1200" b="0">
                <a:solidFill>
                  <a:srgbClr val="6B7280"/>
                </a:solidFill>
                <a:latin typeface="Calibri"/>
              </a:rPr>
              <a:t>zero external deps</a:t>
            </a:r>
          </a:p>
        </p:txBody>
      </p:sp>
      <p:sp>
        <p:nvSpPr>
          <p:cNvPr id="14" name="Rectangle 13"/>
          <p:cNvSpPr/>
          <p:nvPr/>
        </p:nvSpPr>
        <p:spPr>
          <a:xfrm>
            <a:off x="5669280" y="2532888"/>
            <a:ext cx="6126480" cy="914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06440" y="2606040"/>
            <a:ext cx="1371600" cy="502920"/>
          </a:xfrm>
          <a:prstGeom prst="rect">
            <a:avLst/>
          </a:prstGeom>
          <a:noFill/>
        </p:spPr>
        <p:txBody>
          <a:bodyPr wrap="square">
            <a:spAutoFit/>
          </a:bodyPr>
          <a:lstStyle/>
          <a:p>
            <a:pPr algn="l"/>
            <a:r>
              <a:rPr sz="3000" b="1">
                <a:solidFill>
                  <a:srgbClr val="002B5C"/>
                </a:solidFill>
                <a:latin typeface="Calibri"/>
              </a:rPr>
              <a:t>7</a:t>
            </a:r>
          </a:p>
        </p:txBody>
      </p:sp>
      <p:sp>
        <p:nvSpPr>
          <p:cNvPr id="16" name="TextBox 15"/>
          <p:cNvSpPr txBox="1"/>
          <p:nvPr/>
        </p:nvSpPr>
        <p:spPr>
          <a:xfrm>
            <a:off x="7223760" y="2670048"/>
            <a:ext cx="4389120" cy="320040"/>
          </a:xfrm>
          <a:prstGeom prst="rect">
            <a:avLst/>
          </a:prstGeom>
          <a:noFill/>
        </p:spPr>
        <p:txBody>
          <a:bodyPr wrap="square">
            <a:spAutoFit/>
          </a:bodyPr>
          <a:lstStyle/>
          <a:p>
            <a:pPr algn="l"/>
            <a:r>
              <a:rPr sz="1500" b="1">
                <a:solidFill>
                  <a:srgbClr val="2D323B"/>
                </a:solidFill>
                <a:latin typeface="Calibri"/>
              </a:rPr>
              <a:t>Terraform modules</a:t>
            </a:r>
          </a:p>
        </p:txBody>
      </p:sp>
      <p:sp>
        <p:nvSpPr>
          <p:cNvPr id="17" name="TextBox 16"/>
          <p:cNvSpPr txBox="1"/>
          <p:nvPr/>
        </p:nvSpPr>
        <p:spPr>
          <a:xfrm>
            <a:off x="7223760" y="2990088"/>
            <a:ext cx="4389120" cy="320040"/>
          </a:xfrm>
          <a:prstGeom prst="rect">
            <a:avLst/>
          </a:prstGeom>
          <a:noFill/>
        </p:spPr>
        <p:txBody>
          <a:bodyPr wrap="square">
            <a:spAutoFit/>
          </a:bodyPr>
          <a:lstStyle/>
          <a:p>
            <a:pPr algn="l"/>
            <a:r>
              <a:rPr sz="1200" b="0">
                <a:solidFill>
                  <a:srgbClr val="6B7280"/>
                </a:solidFill>
                <a:latin typeface="Calibri"/>
              </a:rPr>
              <a:t>all environments covered</a:t>
            </a:r>
          </a:p>
        </p:txBody>
      </p:sp>
      <p:sp>
        <p:nvSpPr>
          <p:cNvPr id="18" name="Rectangle 17"/>
          <p:cNvSpPr/>
          <p:nvPr/>
        </p:nvSpPr>
        <p:spPr>
          <a:xfrm>
            <a:off x="5669280" y="3511296"/>
            <a:ext cx="6126480" cy="914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06440" y="3584448"/>
            <a:ext cx="1371600" cy="502920"/>
          </a:xfrm>
          <a:prstGeom prst="rect">
            <a:avLst/>
          </a:prstGeom>
          <a:noFill/>
        </p:spPr>
        <p:txBody>
          <a:bodyPr wrap="square">
            <a:spAutoFit/>
          </a:bodyPr>
          <a:lstStyle/>
          <a:p>
            <a:pPr algn="l"/>
            <a:r>
              <a:rPr sz="3000" b="1">
                <a:solidFill>
                  <a:srgbClr val="002B5C"/>
                </a:solidFill>
                <a:latin typeface="Calibri"/>
              </a:rPr>
              <a:t>4</a:t>
            </a:r>
          </a:p>
        </p:txBody>
      </p:sp>
      <p:sp>
        <p:nvSpPr>
          <p:cNvPr id="20" name="TextBox 19"/>
          <p:cNvSpPr txBox="1"/>
          <p:nvPr/>
        </p:nvSpPr>
        <p:spPr>
          <a:xfrm>
            <a:off x="7223760" y="3648456"/>
            <a:ext cx="4389120" cy="320040"/>
          </a:xfrm>
          <a:prstGeom prst="rect">
            <a:avLst/>
          </a:prstGeom>
          <a:noFill/>
        </p:spPr>
        <p:txBody>
          <a:bodyPr wrap="square">
            <a:spAutoFit/>
          </a:bodyPr>
          <a:lstStyle/>
          <a:p>
            <a:pPr algn="l"/>
            <a:r>
              <a:rPr sz="1500" b="1">
                <a:solidFill>
                  <a:srgbClr val="2D323B"/>
                </a:solidFill>
                <a:latin typeface="Calibri"/>
              </a:rPr>
              <a:t>microservices</a:t>
            </a:r>
          </a:p>
        </p:txBody>
      </p:sp>
      <p:sp>
        <p:nvSpPr>
          <p:cNvPr id="21" name="TextBox 20"/>
          <p:cNvSpPr txBox="1"/>
          <p:nvPr/>
        </p:nvSpPr>
        <p:spPr>
          <a:xfrm>
            <a:off x="7223760" y="3968496"/>
            <a:ext cx="4389120" cy="320040"/>
          </a:xfrm>
          <a:prstGeom prst="rect">
            <a:avLst/>
          </a:prstGeom>
          <a:noFill/>
        </p:spPr>
        <p:txBody>
          <a:bodyPr wrap="square">
            <a:spAutoFit/>
          </a:bodyPr>
          <a:lstStyle/>
          <a:p>
            <a:pPr algn="l"/>
            <a:r>
              <a:rPr sz="1200" b="0">
                <a:solidFill>
                  <a:srgbClr val="6B7280"/>
                </a:solidFill>
                <a:latin typeface="Calibri"/>
              </a:rPr>
              <a:t>each its own Fargate task</a:t>
            </a:r>
          </a:p>
        </p:txBody>
      </p:sp>
      <p:sp>
        <p:nvSpPr>
          <p:cNvPr id="22" name="Rectangle 21"/>
          <p:cNvSpPr/>
          <p:nvPr/>
        </p:nvSpPr>
        <p:spPr>
          <a:xfrm>
            <a:off x="5669280" y="4489704"/>
            <a:ext cx="6126480" cy="914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06440" y="4562856"/>
            <a:ext cx="1371600" cy="502920"/>
          </a:xfrm>
          <a:prstGeom prst="rect">
            <a:avLst/>
          </a:prstGeom>
          <a:noFill/>
        </p:spPr>
        <p:txBody>
          <a:bodyPr wrap="square">
            <a:spAutoFit/>
          </a:bodyPr>
          <a:lstStyle/>
          <a:p>
            <a:pPr algn="l"/>
            <a:r>
              <a:rPr sz="3000" b="1">
                <a:solidFill>
                  <a:srgbClr val="002B5C"/>
                </a:solidFill>
                <a:latin typeface="Calibri"/>
              </a:rPr>
              <a:t>3</a:t>
            </a:r>
          </a:p>
        </p:txBody>
      </p:sp>
      <p:sp>
        <p:nvSpPr>
          <p:cNvPr id="24" name="TextBox 23"/>
          <p:cNvSpPr txBox="1"/>
          <p:nvPr/>
        </p:nvSpPr>
        <p:spPr>
          <a:xfrm>
            <a:off x="7223760" y="4626864"/>
            <a:ext cx="4389120" cy="320040"/>
          </a:xfrm>
          <a:prstGeom prst="rect">
            <a:avLst/>
          </a:prstGeom>
          <a:noFill/>
        </p:spPr>
        <p:txBody>
          <a:bodyPr wrap="square">
            <a:spAutoFit/>
          </a:bodyPr>
          <a:lstStyle/>
          <a:p>
            <a:pPr algn="l"/>
            <a:r>
              <a:rPr sz="1500" b="1">
                <a:solidFill>
                  <a:srgbClr val="2D323B"/>
                </a:solidFill>
                <a:latin typeface="Calibri"/>
              </a:rPr>
              <a:t>retry policies</a:t>
            </a:r>
          </a:p>
        </p:txBody>
      </p:sp>
      <p:sp>
        <p:nvSpPr>
          <p:cNvPr id="25" name="TextBox 24"/>
          <p:cNvSpPr txBox="1"/>
          <p:nvPr/>
        </p:nvSpPr>
        <p:spPr>
          <a:xfrm>
            <a:off x="7223760" y="4946904"/>
            <a:ext cx="4389120" cy="320040"/>
          </a:xfrm>
          <a:prstGeom prst="rect">
            <a:avLst/>
          </a:prstGeom>
          <a:noFill/>
        </p:spPr>
        <p:txBody>
          <a:bodyPr wrap="square">
            <a:spAutoFit/>
          </a:bodyPr>
          <a:lstStyle/>
          <a:p>
            <a:pPr algn="l"/>
            <a:r>
              <a:rPr sz="1200" b="0">
                <a:solidFill>
                  <a:srgbClr val="6B7280"/>
                </a:solidFill>
                <a:latin typeface="Calibri"/>
              </a:rPr>
              <a:t>network / kafka / storage</a:t>
            </a:r>
          </a:p>
        </p:txBody>
      </p:sp>
      <p:sp>
        <p:nvSpPr>
          <p:cNvPr id="26" name="Rectangle 25"/>
          <p:cNvSpPr/>
          <p:nvPr/>
        </p:nvSpPr>
        <p:spPr>
          <a:xfrm>
            <a:off x="5669280" y="5468112"/>
            <a:ext cx="6126480" cy="914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06440" y="5541264"/>
            <a:ext cx="1371600" cy="502920"/>
          </a:xfrm>
          <a:prstGeom prst="rect">
            <a:avLst/>
          </a:prstGeom>
          <a:noFill/>
        </p:spPr>
        <p:txBody>
          <a:bodyPr wrap="square">
            <a:spAutoFit/>
          </a:bodyPr>
          <a:lstStyle/>
          <a:p>
            <a:pPr algn="l"/>
            <a:r>
              <a:rPr sz="3000" b="1">
                <a:solidFill>
                  <a:srgbClr val="002B5C"/>
                </a:solidFill>
                <a:latin typeface="Calibri"/>
              </a:rPr>
              <a:t>100%</a:t>
            </a:r>
          </a:p>
        </p:txBody>
      </p:sp>
      <p:sp>
        <p:nvSpPr>
          <p:cNvPr id="28" name="TextBox 27"/>
          <p:cNvSpPr txBox="1"/>
          <p:nvPr/>
        </p:nvSpPr>
        <p:spPr>
          <a:xfrm>
            <a:off x="7223760" y="5605272"/>
            <a:ext cx="4389120" cy="320040"/>
          </a:xfrm>
          <a:prstGeom prst="rect">
            <a:avLst/>
          </a:prstGeom>
          <a:noFill/>
        </p:spPr>
        <p:txBody>
          <a:bodyPr wrap="square">
            <a:spAutoFit/>
          </a:bodyPr>
          <a:lstStyle/>
          <a:p>
            <a:pPr algn="l"/>
            <a:r>
              <a:rPr sz="1500" b="1">
                <a:solidFill>
                  <a:srgbClr val="2D323B"/>
                </a:solidFill>
                <a:latin typeface="Calibri"/>
              </a:rPr>
              <a:t>type-safe</a:t>
            </a:r>
          </a:p>
        </p:txBody>
      </p:sp>
      <p:sp>
        <p:nvSpPr>
          <p:cNvPr id="29" name="TextBox 28"/>
          <p:cNvSpPr txBox="1"/>
          <p:nvPr/>
        </p:nvSpPr>
        <p:spPr>
          <a:xfrm>
            <a:off x="7223760" y="5925312"/>
            <a:ext cx="4389120" cy="320040"/>
          </a:xfrm>
          <a:prstGeom prst="rect">
            <a:avLst/>
          </a:prstGeom>
          <a:noFill/>
        </p:spPr>
        <p:txBody>
          <a:bodyPr wrap="square">
            <a:spAutoFit/>
          </a:bodyPr>
          <a:lstStyle/>
          <a:p>
            <a:pPr algn="l"/>
            <a:r>
              <a:rPr sz="1200" b="0">
                <a:solidFill>
                  <a:srgbClr val="6B7280"/>
                </a:solidFill>
                <a:latin typeface="Calibri"/>
              </a:rPr>
              <a:t>Pydantic models, Protocols, Pyright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0"/>
            <a:ext cx="12188952" cy="457200"/>
          </a:xfrm>
          <a:prstGeom prst="rect">
            <a:avLst/>
          </a:prstGeom>
          <a:solidFill>
            <a:srgbClr val="E8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65760"/>
            <a:ext cx="10908792" cy="640080"/>
          </a:xfrm>
          <a:prstGeom prst="rect">
            <a:avLst/>
          </a:prstGeom>
          <a:noFill/>
        </p:spPr>
        <p:txBody>
          <a:bodyPr wrap="square">
            <a:spAutoFit/>
          </a:bodyPr>
          <a:lstStyle/>
          <a:p>
            <a:pPr algn="l"/>
            <a:r>
              <a:rPr sz="3600" b="1">
                <a:solidFill>
                  <a:srgbClr val="FFFFFF"/>
                </a:solidFill>
                <a:latin typeface="Calibri"/>
              </a:rPr>
              <a:t>Summary</a:t>
            </a:r>
          </a:p>
        </p:txBody>
      </p:sp>
      <p:sp>
        <p:nvSpPr>
          <p:cNvPr id="5" name="Rectangle 4"/>
          <p:cNvSpPr/>
          <p:nvPr/>
        </p:nvSpPr>
        <p:spPr>
          <a:xfrm>
            <a:off x="640080" y="1005840"/>
            <a:ext cx="3657600" cy="36576"/>
          </a:xfrm>
          <a:prstGeom prst="rect">
            <a:avLst/>
          </a:prstGeom>
          <a:solidFill>
            <a:srgbClr val="E8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188720"/>
            <a:ext cx="7313371" cy="457200"/>
          </a:xfrm>
          <a:prstGeom prst="rect">
            <a:avLst/>
          </a:prstGeom>
          <a:noFill/>
        </p:spPr>
        <p:txBody>
          <a:bodyPr wrap="square">
            <a:spAutoFit/>
          </a:bodyPr>
          <a:lstStyle/>
          <a:p>
            <a:pPr algn="l"/>
            <a:r>
              <a:rPr sz="1400" b="0">
                <a:solidFill>
                  <a:srgbClr val="FFFFFF"/>
                </a:solidFill>
                <a:latin typeface="Calibri"/>
              </a:rPr>
              <a:t>✅  Acquire &amp; Land — daily batch at 09:00, ETag dedup, S3 archive/ + landing/</a:t>
            </a:r>
          </a:p>
        </p:txBody>
      </p:sp>
      <p:sp>
        <p:nvSpPr>
          <p:cNvPr id="7" name="TextBox 6"/>
          <p:cNvSpPr txBox="1"/>
          <p:nvPr/>
        </p:nvSpPr>
        <p:spPr>
          <a:xfrm>
            <a:off x="640080" y="1691640"/>
            <a:ext cx="7313371" cy="457200"/>
          </a:xfrm>
          <a:prstGeom prst="rect">
            <a:avLst/>
          </a:prstGeom>
          <a:noFill/>
        </p:spPr>
        <p:txBody>
          <a:bodyPr wrap="square">
            <a:spAutoFit/>
          </a:bodyPr>
          <a:lstStyle/>
          <a:p>
            <a:pPr algn="l"/>
            <a:r>
              <a:rPr sz="1400" b="0">
                <a:solidFill>
                  <a:srgbClr val="FFFFFF"/>
                </a:solidFill>
                <a:latin typeface="Calibri"/>
              </a:rPr>
              <a:t>✅  Stream into Bronze — MSK / Kafka, at-least-once, Iceberg table in Glue</a:t>
            </a:r>
          </a:p>
        </p:txBody>
      </p:sp>
      <p:sp>
        <p:nvSpPr>
          <p:cNvPr id="8" name="TextBox 7"/>
          <p:cNvSpPr txBox="1"/>
          <p:nvPr/>
        </p:nvSpPr>
        <p:spPr>
          <a:xfrm>
            <a:off x="640080" y="2194560"/>
            <a:ext cx="7313371" cy="457200"/>
          </a:xfrm>
          <a:prstGeom prst="rect">
            <a:avLst/>
          </a:prstGeom>
          <a:noFill/>
        </p:spPr>
        <p:txBody>
          <a:bodyPr wrap="square">
            <a:spAutoFit/>
          </a:bodyPr>
          <a:lstStyle/>
          <a:p>
            <a:pPr algn="l"/>
            <a:r>
              <a:rPr sz="1400" b="0">
                <a:solidFill>
                  <a:srgbClr val="FFFFFF"/>
                </a:solidFill>
                <a:latin typeface="Calibri"/>
              </a:rPr>
              <a:t>✅  Transform → Silver — typed, deduped, partitioned (year/month)</a:t>
            </a:r>
          </a:p>
        </p:txBody>
      </p:sp>
      <p:sp>
        <p:nvSpPr>
          <p:cNvPr id="9" name="TextBox 8"/>
          <p:cNvSpPr txBox="1"/>
          <p:nvPr/>
        </p:nvSpPr>
        <p:spPr>
          <a:xfrm>
            <a:off x="640080" y="2697480"/>
            <a:ext cx="7313371" cy="457200"/>
          </a:xfrm>
          <a:prstGeom prst="rect">
            <a:avLst/>
          </a:prstGeom>
          <a:noFill/>
        </p:spPr>
        <p:txBody>
          <a:bodyPr wrap="square">
            <a:spAutoFit/>
          </a:bodyPr>
          <a:lstStyle/>
          <a:p>
            <a:pPr algn="l"/>
            <a:r>
              <a:rPr sz="1400" b="0">
                <a:solidFill>
                  <a:srgbClr val="FFFFFF"/>
                </a:solidFill>
                <a:latin typeface="Calibri"/>
              </a:rPr>
              <a:t>✅  Serve — Athena Engine v3, named queries, cost-controlled workgroup</a:t>
            </a:r>
          </a:p>
        </p:txBody>
      </p:sp>
      <p:sp>
        <p:nvSpPr>
          <p:cNvPr id="10" name="TextBox 9"/>
          <p:cNvSpPr txBox="1"/>
          <p:nvPr/>
        </p:nvSpPr>
        <p:spPr>
          <a:xfrm>
            <a:off x="640080" y="3200400"/>
            <a:ext cx="7313371" cy="457200"/>
          </a:xfrm>
          <a:prstGeom prst="rect">
            <a:avLst/>
          </a:prstGeom>
          <a:noFill/>
        </p:spPr>
        <p:txBody>
          <a:bodyPr wrap="square">
            <a:spAutoFit/>
          </a:bodyPr>
          <a:lstStyle/>
          <a:p>
            <a:pPr algn="l"/>
            <a:r>
              <a:rPr sz="1400" b="0">
                <a:solidFill>
                  <a:srgbClr val="FFFFFF"/>
                </a:solidFill>
                <a:latin typeface="Calibri"/>
              </a:rPr>
              <a:t>✅  IaC — 7 Terraform modules, 4 environments, EventBridge + Step Functions</a:t>
            </a:r>
          </a:p>
        </p:txBody>
      </p:sp>
      <p:sp>
        <p:nvSpPr>
          <p:cNvPr id="11" name="Rectangle 10"/>
          <p:cNvSpPr/>
          <p:nvPr/>
        </p:nvSpPr>
        <p:spPr>
          <a:xfrm>
            <a:off x="7679039" y="1097280"/>
            <a:ext cx="4388022" cy="5212080"/>
          </a:xfrm>
          <a:prstGeom prst="rect">
            <a:avLst/>
          </a:prstGeom>
          <a:solidFill>
            <a:srgbClr val="001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1919" y="1188720"/>
            <a:ext cx="4266133" cy="365760"/>
          </a:xfrm>
          <a:prstGeom prst="rect">
            <a:avLst/>
          </a:prstGeom>
          <a:noFill/>
        </p:spPr>
        <p:txBody>
          <a:bodyPr wrap="square">
            <a:spAutoFit/>
          </a:bodyPr>
          <a:lstStyle/>
          <a:p>
            <a:pPr algn="l"/>
            <a:r>
              <a:rPr sz="1400" b="1">
                <a:solidFill>
                  <a:srgbClr val="E86A1A"/>
                </a:solidFill>
                <a:latin typeface="Calibri"/>
              </a:rPr>
              <a:t>Anticipated Q&amp;A</a:t>
            </a:r>
          </a:p>
        </p:txBody>
      </p:sp>
      <p:sp>
        <p:nvSpPr>
          <p:cNvPr id="13" name="TextBox 12"/>
          <p:cNvSpPr txBox="1"/>
          <p:nvPr/>
        </p:nvSpPr>
        <p:spPr>
          <a:xfrm>
            <a:off x="7861919" y="1691640"/>
            <a:ext cx="4266133" cy="347472"/>
          </a:xfrm>
          <a:prstGeom prst="rect">
            <a:avLst/>
          </a:prstGeom>
          <a:noFill/>
        </p:spPr>
        <p:txBody>
          <a:bodyPr wrap="square">
            <a:spAutoFit/>
          </a:bodyPr>
          <a:lstStyle/>
          <a:p>
            <a:pPr algn="l"/>
            <a:r>
              <a:rPr sz="1200" b="1">
                <a:solidFill>
                  <a:srgbClr val="00AAD4"/>
                </a:solidFill>
                <a:latin typeface="Calibri"/>
              </a:rPr>
              <a:t>Q: Why Kafka and not S3 events?</a:t>
            </a:r>
          </a:p>
        </p:txBody>
      </p:sp>
      <p:sp>
        <p:nvSpPr>
          <p:cNvPr id="14" name="TextBox 13"/>
          <p:cNvSpPr txBox="1"/>
          <p:nvPr/>
        </p:nvSpPr>
        <p:spPr>
          <a:xfrm>
            <a:off x="7861919" y="2039112"/>
            <a:ext cx="4266133" cy="594360"/>
          </a:xfrm>
          <a:prstGeom prst="rect">
            <a:avLst/>
          </a:prstGeom>
          <a:noFill/>
        </p:spPr>
        <p:txBody>
          <a:bodyPr wrap="square">
            <a:spAutoFit/>
          </a:bodyPr>
          <a:lstStyle/>
          <a:p>
            <a:pPr algn="l"/>
            <a:r>
              <a:rPr sz="1200" b="0">
                <a:solidFill>
                  <a:srgbClr val="FFFFFF"/>
                </a:solidFill>
                <a:latin typeface="Calibri"/>
              </a:rPr>
              <a:t>A: Replay + decoupling. S3 events are fire-and-forget.</a:t>
            </a:r>
          </a:p>
        </p:txBody>
      </p:sp>
      <p:sp>
        <p:nvSpPr>
          <p:cNvPr id="15" name="TextBox 14"/>
          <p:cNvSpPr txBox="1"/>
          <p:nvPr/>
        </p:nvSpPr>
        <p:spPr>
          <a:xfrm>
            <a:off x="7861919" y="2788920"/>
            <a:ext cx="4266133" cy="347472"/>
          </a:xfrm>
          <a:prstGeom prst="rect">
            <a:avLst/>
          </a:prstGeom>
          <a:noFill/>
        </p:spPr>
        <p:txBody>
          <a:bodyPr wrap="square">
            <a:spAutoFit/>
          </a:bodyPr>
          <a:lstStyle/>
          <a:p>
            <a:pPr algn="l"/>
            <a:r>
              <a:rPr sz="1200" b="1">
                <a:solidFill>
                  <a:srgbClr val="00AAD4"/>
                </a:solidFill>
                <a:latin typeface="Calibri"/>
              </a:rPr>
              <a:t>Q: How does dedup handle scale?</a:t>
            </a:r>
          </a:p>
        </p:txBody>
      </p:sp>
      <p:sp>
        <p:nvSpPr>
          <p:cNvPr id="16" name="TextBox 15"/>
          <p:cNvSpPr txBox="1"/>
          <p:nvPr/>
        </p:nvSpPr>
        <p:spPr>
          <a:xfrm>
            <a:off x="7861919" y="3136391"/>
            <a:ext cx="4266133" cy="594360"/>
          </a:xfrm>
          <a:prstGeom prst="rect">
            <a:avLst/>
          </a:prstGeom>
          <a:noFill/>
        </p:spPr>
        <p:txBody>
          <a:bodyPr wrap="square">
            <a:spAutoFit/>
          </a:bodyPr>
          <a:lstStyle/>
          <a:p>
            <a:pPr algn="l"/>
            <a:r>
              <a:rPr sz="1200" b="0">
                <a:solidFill>
                  <a:srgbClr val="FFFFFF"/>
                </a:solidFill>
                <a:latin typeface="Calibri"/>
              </a:rPr>
              <a:t>A: Scan at startup. For 10M+ offsets: Redis or DynamoDB.</a:t>
            </a:r>
          </a:p>
        </p:txBody>
      </p:sp>
      <p:sp>
        <p:nvSpPr>
          <p:cNvPr id="17" name="TextBox 16"/>
          <p:cNvSpPr txBox="1"/>
          <p:nvPr/>
        </p:nvSpPr>
        <p:spPr>
          <a:xfrm>
            <a:off x="7861919" y="3886200"/>
            <a:ext cx="4266133" cy="347472"/>
          </a:xfrm>
          <a:prstGeom prst="rect">
            <a:avLst/>
          </a:prstGeom>
          <a:noFill/>
        </p:spPr>
        <p:txBody>
          <a:bodyPr wrap="square">
            <a:spAutoFit/>
          </a:bodyPr>
          <a:lstStyle/>
          <a:p>
            <a:pPr algn="l"/>
            <a:r>
              <a:rPr sz="1200" b="1">
                <a:solidFill>
                  <a:srgbClr val="00AAD4"/>
                </a:solidFill>
                <a:latin typeface="Calibri"/>
              </a:rPr>
              <a:t>Q: Why Python, not Spark?</a:t>
            </a:r>
          </a:p>
        </p:txBody>
      </p:sp>
      <p:sp>
        <p:nvSpPr>
          <p:cNvPr id="18" name="TextBox 17"/>
          <p:cNvSpPr txBox="1"/>
          <p:nvPr/>
        </p:nvSpPr>
        <p:spPr>
          <a:xfrm>
            <a:off x="7861919" y="4233672"/>
            <a:ext cx="4266133" cy="594360"/>
          </a:xfrm>
          <a:prstGeom prst="rect">
            <a:avLst/>
          </a:prstGeom>
          <a:noFill/>
        </p:spPr>
        <p:txBody>
          <a:bodyPr wrap="square">
            <a:spAutoFit/>
          </a:bodyPr>
          <a:lstStyle/>
          <a:p>
            <a:pPr algn="l"/>
            <a:r>
              <a:rPr sz="1200" b="0">
                <a:solidFill>
                  <a:srgbClr val="FFFFFF"/>
                </a:solidFill>
                <a:latin typeface="Calibri"/>
              </a:rPr>
              <a:t>A: 2M/day = trivial. Spark justified at 100M+.</a:t>
            </a:r>
          </a:p>
        </p:txBody>
      </p:sp>
      <p:sp>
        <p:nvSpPr>
          <p:cNvPr id="19" name="TextBox 18"/>
          <p:cNvSpPr txBox="1"/>
          <p:nvPr/>
        </p:nvSpPr>
        <p:spPr>
          <a:xfrm>
            <a:off x="7861919" y="4983479"/>
            <a:ext cx="4266133" cy="347472"/>
          </a:xfrm>
          <a:prstGeom prst="rect">
            <a:avLst/>
          </a:prstGeom>
          <a:noFill/>
        </p:spPr>
        <p:txBody>
          <a:bodyPr wrap="square">
            <a:spAutoFit/>
          </a:bodyPr>
          <a:lstStyle/>
          <a:p>
            <a:pPr algn="l"/>
            <a:r>
              <a:rPr sz="1200" b="1">
                <a:solidFill>
                  <a:srgbClr val="00AAD4"/>
                </a:solidFill>
                <a:latin typeface="Calibri"/>
              </a:rPr>
              <a:t>Q: Is the pipeline idempotent?</a:t>
            </a:r>
          </a:p>
        </p:txBody>
      </p:sp>
      <p:sp>
        <p:nvSpPr>
          <p:cNvPr id="20" name="TextBox 19"/>
          <p:cNvSpPr txBox="1"/>
          <p:nvPr/>
        </p:nvSpPr>
        <p:spPr>
          <a:xfrm>
            <a:off x="7861919" y="5330951"/>
            <a:ext cx="4266133" cy="594360"/>
          </a:xfrm>
          <a:prstGeom prst="rect">
            <a:avLst/>
          </a:prstGeom>
          <a:noFill/>
        </p:spPr>
        <p:txBody>
          <a:bodyPr wrap="square">
            <a:spAutoFit/>
          </a:bodyPr>
          <a:lstStyle/>
          <a:p>
            <a:pPr algn="l"/>
            <a:r>
              <a:rPr sz="1200" b="0">
                <a:solidFill>
                  <a:srgbClr val="FFFFFF"/>
                </a:solidFill>
                <a:latin typeface="Calibri"/>
              </a:rPr>
              <a:t>A: Yes — ETag check, offset-based filenames, silver dedup.</a:t>
            </a:r>
          </a:p>
        </p:txBody>
      </p:sp>
      <p:sp>
        <p:nvSpPr>
          <p:cNvPr id="21" name="TextBox 20"/>
          <p:cNvSpPr txBox="1"/>
          <p:nvPr/>
        </p:nvSpPr>
        <p:spPr>
          <a:xfrm>
            <a:off x="640080" y="5943600"/>
            <a:ext cx="4572000" cy="640080"/>
          </a:xfrm>
          <a:prstGeom prst="rect">
            <a:avLst/>
          </a:prstGeom>
          <a:noFill/>
        </p:spPr>
        <p:txBody>
          <a:bodyPr wrap="square">
            <a:spAutoFit/>
          </a:bodyPr>
          <a:lstStyle/>
          <a:p>
            <a:pPr algn="l"/>
            <a:r>
              <a:rPr sz="3200" b="1">
                <a:solidFill>
                  <a:srgbClr val="E86A1A"/>
                </a:solidFill>
                <a:latin typeface="Calibri"/>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